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4" r:id="rId2"/>
    <p:sldId id="256" r:id="rId3"/>
    <p:sldId id="257" r:id="rId4"/>
    <p:sldId id="258" r:id="rId5"/>
    <p:sldId id="263" r:id="rId6"/>
    <p:sldId id="260" r:id="rId7"/>
    <p:sldId id="262" r:id="rId8"/>
    <p:sldId id="259" r:id="rId9"/>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E6CDFF"/>
    <a:srgbClr val="E88502"/>
    <a:srgbClr val="3F007E"/>
    <a:srgbClr val="E97132"/>
    <a:srgbClr val="FFFF00"/>
    <a:srgbClr val="9999FF"/>
    <a:srgbClr val="6793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11" autoAdjust="0"/>
    <p:restoredTop sz="96740" autoAdjust="0"/>
  </p:normalViewPr>
  <p:slideViewPr>
    <p:cSldViewPr snapToGrid="0">
      <p:cViewPr>
        <p:scale>
          <a:sx n="80" d="100"/>
          <a:sy n="80" d="100"/>
        </p:scale>
        <p:origin x="45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857296-5987-4CB6-87FB-89266C4443B7}" type="datetimeFigureOut">
              <a:rPr lang="en-AU" smtClean="0"/>
              <a:t>3/06/2026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2596289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857296-5987-4CB6-87FB-89266C4443B7}" type="datetimeFigureOut">
              <a:rPr lang="en-AU" smtClean="0"/>
              <a:t>3/06/2026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279376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857296-5987-4CB6-87FB-89266C4443B7}" type="datetimeFigureOut">
              <a:rPr lang="en-AU" smtClean="0"/>
              <a:t>3/06/2026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845820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857296-5987-4CB6-87FB-89266C4443B7}" type="datetimeFigureOut">
              <a:rPr lang="en-AU" smtClean="0"/>
              <a:t>3/06/2026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241500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857296-5987-4CB6-87FB-89266C4443B7}" type="datetimeFigureOut">
              <a:rPr lang="en-AU" smtClean="0"/>
              <a:t>3/06/2026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30373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857296-5987-4CB6-87FB-89266C4443B7}" type="datetimeFigureOut">
              <a:rPr lang="en-AU" smtClean="0"/>
              <a:t>3/06/2026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3547496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57296-5987-4CB6-87FB-89266C4443B7}" type="datetimeFigureOut">
              <a:rPr lang="en-AU" smtClean="0"/>
              <a:t>3/06/2026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247907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C857296-5987-4CB6-87FB-89266C4443B7}" type="datetimeFigureOut">
              <a:rPr lang="en-AU" smtClean="0"/>
              <a:t>3/06/2026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346928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C857296-5987-4CB6-87FB-89266C4443B7}" type="datetimeFigureOut">
              <a:rPr lang="en-AU" smtClean="0"/>
              <a:t>3/06/2026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1102040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857296-5987-4CB6-87FB-89266C4443B7}" type="datetimeFigureOut">
              <a:rPr lang="en-AU" smtClean="0"/>
              <a:t>3/06/2026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2023391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857296-5987-4CB6-87FB-89266C4443B7}" type="datetimeFigureOut">
              <a:rPr lang="en-AU" smtClean="0"/>
              <a:t>3/06/2026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D90F35A-3142-49CA-A4C1-C0EFC44BA1DB}" type="slidenum">
              <a:rPr lang="en-AU" smtClean="0"/>
              <a:t>‹#›</a:t>
            </a:fld>
            <a:endParaRPr lang="en-AU"/>
          </a:p>
        </p:txBody>
      </p:sp>
    </p:spTree>
    <p:extLst>
      <p:ext uri="{BB962C8B-B14F-4D97-AF65-F5344CB8AC3E}">
        <p14:creationId xmlns:p14="http://schemas.microsoft.com/office/powerpoint/2010/main" val="3326828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FC857296-5987-4CB6-87FB-89266C4443B7}" type="datetimeFigureOut">
              <a:rPr lang="en-AU" smtClean="0"/>
              <a:t>3/06/2026</a:t>
            </a:fld>
            <a:endParaRPr lang="en-AU"/>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ED90F35A-3142-49CA-A4C1-C0EFC44BA1DB}" type="slidenum">
              <a:rPr lang="en-AU" smtClean="0"/>
              <a:t>‹#›</a:t>
            </a:fld>
            <a:endParaRPr lang="en-AU"/>
          </a:p>
        </p:txBody>
      </p:sp>
    </p:spTree>
    <p:extLst>
      <p:ext uri="{BB962C8B-B14F-4D97-AF65-F5344CB8AC3E}">
        <p14:creationId xmlns:p14="http://schemas.microsoft.com/office/powerpoint/2010/main" val="18969750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1.png"/><Relationship Id="rId12"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image" Target="../media/image9.svg"/><Relationship Id="rId4" Type="http://schemas.openxmlformats.org/officeDocument/2006/relationships/image" Target="../media/image6.pn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hyperlink" Target="https://bread-wheat-um.genome.edu.au/" TargetMode="Externa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16A11B3-BD7A-0C6B-63CB-78521DED4BA1}"/>
              </a:ext>
            </a:extLst>
          </p:cNvPr>
          <p:cNvSpPr txBox="1"/>
          <p:nvPr/>
        </p:nvSpPr>
        <p:spPr>
          <a:xfrm>
            <a:off x="0" y="1775"/>
            <a:ext cx="6870031" cy="215444"/>
          </a:xfrm>
          <a:prstGeom prst="rect">
            <a:avLst/>
          </a:prstGeom>
          <a:noFill/>
        </p:spPr>
        <p:txBody>
          <a:bodyPr wrap="square" rtlCol="0">
            <a:spAutoFit/>
          </a:bodyPr>
          <a:lstStyle/>
          <a:p>
            <a:r>
              <a:rPr lang="en-US" sz="800" b="1" dirty="0"/>
              <a:t>Graphical Abstract</a:t>
            </a:r>
            <a:endParaRPr lang="en-AU" sz="800" b="1" dirty="0"/>
          </a:p>
        </p:txBody>
      </p:sp>
      <p:grpSp>
        <p:nvGrpSpPr>
          <p:cNvPr id="133" name="Group 132">
            <a:extLst>
              <a:ext uri="{FF2B5EF4-FFF2-40B4-BE49-F238E27FC236}">
                <a16:creationId xmlns:a16="http://schemas.microsoft.com/office/drawing/2014/main" id="{E3A97978-CC2A-6DF1-9AD5-73EF15746040}"/>
              </a:ext>
            </a:extLst>
          </p:cNvPr>
          <p:cNvGrpSpPr/>
          <p:nvPr/>
        </p:nvGrpSpPr>
        <p:grpSpPr>
          <a:xfrm>
            <a:off x="135307" y="278293"/>
            <a:ext cx="6448375" cy="1995778"/>
            <a:chOff x="135307" y="874643"/>
            <a:chExt cx="6448375" cy="1995778"/>
          </a:xfrm>
        </p:grpSpPr>
        <p:sp>
          <p:nvSpPr>
            <p:cNvPr id="22" name="TextBox 21">
              <a:extLst>
                <a:ext uri="{FF2B5EF4-FFF2-40B4-BE49-F238E27FC236}">
                  <a16:creationId xmlns:a16="http://schemas.microsoft.com/office/drawing/2014/main" id="{C629C3AC-6A58-0222-5847-287F41DA0BC5}"/>
                </a:ext>
              </a:extLst>
            </p:cNvPr>
            <p:cNvSpPr txBox="1"/>
            <p:nvPr/>
          </p:nvSpPr>
          <p:spPr>
            <a:xfrm>
              <a:off x="135307" y="972724"/>
              <a:ext cx="1179371" cy="738664"/>
            </a:xfrm>
            <a:prstGeom prst="rect">
              <a:avLst/>
            </a:prstGeom>
            <a:noFill/>
          </p:spPr>
          <p:txBody>
            <a:bodyPr wrap="square" rtlCol="0">
              <a:spAutoFit/>
            </a:bodyPr>
            <a:lstStyle/>
            <a:p>
              <a:pPr algn="ctr"/>
              <a:r>
                <a:rPr lang="en-US" sz="1400" b="1" dirty="0">
                  <a:solidFill>
                    <a:srgbClr val="7030A0"/>
                  </a:solidFill>
                </a:rPr>
                <a:t>Public raw </a:t>
              </a:r>
            </a:p>
            <a:p>
              <a:pPr algn="ctr"/>
              <a:r>
                <a:rPr lang="en-US" sz="1400" b="1" dirty="0">
                  <a:solidFill>
                    <a:srgbClr val="7030A0"/>
                  </a:solidFill>
                </a:rPr>
                <a:t>LC-MS2 data</a:t>
              </a:r>
            </a:p>
          </p:txBody>
        </p:sp>
        <p:grpSp>
          <p:nvGrpSpPr>
            <p:cNvPr id="25" name="Group 24">
              <a:extLst>
                <a:ext uri="{FF2B5EF4-FFF2-40B4-BE49-F238E27FC236}">
                  <a16:creationId xmlns:a16="http://schemas.microsoft.com/office/drawing/2014/main" id="{3DB5298E-8BC3-E407-2ADB-6177D9CC86FE}"/>
                </a:ext>
              </a:extLst>
            </p:cNvPr>
            <p:cNvGrpSpPr/>
            <p:nvPr/>
          </p:nvGrpSpPr>
          <p:grpSpPr>
            <a:xfrm>
              <a:off x="452256" y="1843179"/>
              <a:ext cx="532642" cy="780959"/>
              <a:chOff x="9749704" y="2393699"/>
              <a:chExt cx="731685" cy="1307614"/>
            </a:xfrm>
          </p:grpSpPr>
          <p:sp>
            <p:nvSpPr>
              <p:cNvPr id="113" name="Flowchart: Magnetic Disk 112">
                <a:extLst>
                  <a:ext uri="{FF2B5EF4-FFF2-40B4-BE49-F238E27FC236}">
                    <a16:creationId xmlns:a16="http://schemas.microsoft.com/office/drawing/2014/main" id="{739D67DE-998B-1474-8FAE-30E6C63B1959}"/>
                  </a:ext>
                </a:extLst>
              </p:cNvPr>
              <p:cNvSpPr/>
              <p:nvPr/>
            </p:nvSpPr>
            <p:spPr>
              <a:xfrm>
                <a:off x="9749704" y="3221263"/>
                <a:ext cx="731685" cy="480050"/>
              </a:xfrm>
              <a:prstGeom prst="flowChartMagneticDisk">
                <a:avLst/>
              </a:prstGeom>
              <a:gradFill flip="none" rotWithShape="1">
                <a:gsLst>
                  <a:gs pos="0">
                    <a:schemeClr val="bg1">
                      <a:lumMod val="85000"/>
                    </a:schemeClr>
                  </a:gs>
                  <a:gs pos="81000">
                    <a:schemeClr val="bg1">
                      <a:lumMod val="50000"/>
                    </a:schemeClr>
                  </a:gs>
                  <a:gs pos="100000">
                    <a:schemeClr val="tx1">
                      <a:lumMod val="50000"/>
                      <a:lumOff val="50000"/>
                    </a:schemeClr>
                  </a:gs>
                </a:gsLst>
                <a:lin ang="0" scaled="1"/>
                <a:tileRect/>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Flowchart: Magnetic Disk 113">
                <a:extLst>
                  <a:ext uri="{FF2B5EF4-FFF2-40B4-BE49-F238E27FC236}">
                    <a16:creationId xmlns:a16="http://schemas.microsoft.com/office/drawing/2014/main" id="{C0676272-1ABA-BFD4-C909-AA4AB92F7689}"/>
                  </a:ext>
                </a:extLst>
              </p:cNvPr>
              <p:cNvSpPr/>
              <p:nvPr/>
            </p:nvSpPr>
            <p:spPr>
              <a:xfrm>
                <a:off x="9781291" y="3101156"/>
                <a:ext cx="669362" cy="266470"/>
              </a:xfrm>
              <a:prstGeom prst="flowChartMagneticDisk">
                <a:avLst/>
              </a:prstGeom>
              <a:solidFill>
                <a:schemeClr val="tx1">
                  <a:lumMod val="65000"/>
                  <a:lumOff val="3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Flowchart: Magnetic Disk 114">
                <a:extLst>
                  <a:ext uri="{FF2B5EF4-FFF2-40B4-BE49-F238E27FC236}">
                    <a16:creationId xmlns:a16="http://schemas.microsoft.com/office/drawing/2014/main" id="{14C13AF2-CF99-0B3D-76FB-3ECFB95A6C39}"/>
                  </a:ext>
                </a:extLst>
              </p:cNvPr>
              <p:cNvSpPr/>
              <p:nvPr/>
            </p:nvSpPr>
            <p:spPr>
              <a:xfrm>
                <a:off x="9749704" y="2808463"/>
                <a:ext cx="731685" cy="480050"/>
              </a:xfrm>
              <a:prstGeom prst="flowChartMagneticDisk">
                <a:avLst/>
              </a:prstGeom>
              <a:gradFill flip="none" rotWithShape="1">
                <a:gsLst>
                  <a:gs pos="0">
                    <a:schemeClr val="bg1">
                      <a:lumMod val="85000"/>
                    </a:schemeClr>
                  </a:gs>
                  <a:gs pos="81000">
                    <a:schemeClr val="bg1">
                      <a:lumMod val="50000"/>
                    </a:schemeClr>
                  </a:gs>
                  <a:gs pos="100000">
                    <a:schemeClr val="tx1">
                      <a:lumMod val="50000"/>
                      <a:lumOff val="50000"/>
                    </a:schemeClr>
                  </a:gs>
                </a:gsLst>
                <a:lin ang="0" scaled="1"/>
                <a:tileRect/>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Flowchart: Magnetic Disk 115">
                <a:extLst>
                  <a:ext uri="{FF2B5EF4-FFF2-40B4-BE49-F238E27FC236}">
                    <a16:creationId xmlns:a16="http://schemas.microsoft.com/office/drawing/2014/main" id="{01B726A0-18EB-1754-147B-BE27E6EB6341}"/>
                  </a:ext>
                </a:extLst>
              </p:cNvPr>
              <p:cNvSpPr/>
              <p:nvPr/>
            </p:nvSpPr>
            <p:spPr>
              <a:xfrm>
                <a:off x="9781291" y="2694553"/>
                <a:ext cx="669362" cy="266470"/>
              </a:xfrm>
              <a:prstGeom prst="flowChartMagneticDisk">
                <a:avLst/>
              </a:prstGeom>
              <a:solidFill>
                <a:schemeClr val="tx1">
                  <a:lumMod val="65000"/>
                  <a:lumOff val="3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Flowchart: Magnetic Disk 116">
                <a:extLst>
                  <a:ext uri="{FF2B5EF4-FFF2-40B4-BE49-F238E27FC236}">
                    <a16:creationId xmlns:a16="http://schemas.microsoft.com/office/drawing/2014/main" id="{83B52BCC-5082-7494-6B96-FDDB0773CA51}"/>
                  </a:ext>
                </a:extLst>
              </p:cNvPr>
              <p:cNvSpPr/>
              <p:nvPr/>
            </p:nvSpPr>
            <p:spPr>
              <a:xfrm>
                <a:off x="9749704" y="2393699"/>
                <a:ext cx="731685" cy="480050"/>
              </a:xfrm>
              <a:prstGeom prst="flowChartMagneticDisk">
                <a:avLst/>
              </a:prstGeom>
              <a:gradFill flip="none" rotWithShape="1">
                <a:gsLst>
                  <a:gs pos="0">
                    <a:schemeClr val="bg1">
                      <a:lumMod val="85000"/>
                    </a:schemeClr>
                  </a:gs>
                  <a:gs pos="81000">
                    <a:schemeClr val="bg1">
                      <a:lumMod val="50000"/>
                    </a:schemeClr>
                  </a:gs>
                  <a:gs pos="100000">
                    <a:schemeClr val="tx1">
                      <a:lumMod val="50000"/>
                      <a:lumOff val="50000"/>
                    </a:schemeClr>
                  </a:gs>
                </a:gsLst>
                <a:lin ang="0" scaled="1"/>
                <a:tileRect/>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0" name="Arrow: Down 29">
              <a:extLst>
                <a:ext uri="{FF2B5EF4-FFF2-40B4-BE49-F238E27FC236}">
                  <a16:creationId xmlns:a16="http://schemas.microsoft.com/office/drawing/2014/main" id="{4A3CAE32-6596-858B-65E9-61C0A475FD5D}"/>
                </a:ext>
              </a:extLst>
            </p:cNvPr>
            <p:cNvSpPr/>
            <p:nvPr/>
          </p:nvSpPr>
          <p:spPr>
            <a:xfrm rot="16200000">
              <a:off x="885693" y="1995866"/>
              <a:ext cx="954324" cy="475584"/>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31" name="TextBox 30">
              <a:extLst>
                <a:ext uri="{FF2B5EF4-FFF2-40B4-BE49-F238E27FC236}">
                  <a16:creationId xmlns:a16="http://schemas.microsoft.com/office/drawing/2014/main" id="{192E732A-7B13-A4FD-CE91-F08F507670E5}"/>
                </a:ext>
              </a:extLst>
            </p:cNvPr>
            <p:cNvSpPr txBox="1"/>
            <p:nvPr/>
          </p:nvSpPr>
          <p:spPr>
            <a:xfrm>
              <a:off x="1677090" y="972724"/>
              <a:ext cx="1350412" cy="738664"/>
            </a:xfrm>
            <a:prstGeom prst="rect">
              <a:avLst/>
            </a:prstGeom>
            <a:noFill/>
          </p:spPr>
          <p:txBody>
            <a:bodyPr wrap="square" rtlCol="0">
              <a:spAutoFit/>
            </a:bodyPr>
            <a:lstStyle/>
            <a:p>
              <a:pPr algn="ctr"/>
              <a:r>
                <a:rPr lang="en-US" sz="1400" b="1" dirty="0">
                  <a:solidFill>
                    <a:srgbClr val="7030A0"/>
                  </a:solidFill>
                </a:rPr>
                <a:t>Proteome database search</a:t>
              </a:r>
              <a:endParaRPr lang="en-AU" sz="1400" b="1" dirty="0">
                <a:solidFill>
                  <a:srgbClr val="7030A0"/>
                </a:solidFill>
              </a:endParaRPr>
            </a:p>
          </p:txBody>
        </p:sp>
        <p:sp>
          <p:nvSpPr>
            <p:cNvPr id="33" name="TextBox 32">
              <a:extLst>
                <a:ext uri="{FF2B5EF4-FFF2-40B4-BE49-F238E27FC236}">
                  <a16:creationId xmlns:a16="http://schemas.microsoft.com/office/drawing/2014/main" id="{A8F32064-D73D-F395-49C4-BCD38A7B8977}"/>
                </a:ext>
              </a:extLst>
            </p:cNvPr>
            <p:cNvSpPr txBox="1"/>
            <p:nvPr/>
          </p:nvSpPr>
          <p:spPr>
            <a:xfrm>
              <a:off x="3485511" y="972724"/>
              <a:ext cx="1534676" cy="738664"/>
            </a:xfrm>
            <a:prstGeom prst="rect">
              <a:avLst/>
            </a:prstGeom>
            <a:noFill/>
          </p:spPr>
          <p:txBody>
            <a:bodyPr wrap="square" rtlCol="0">
              <a:spAutoFit/>
            </a:bodyPr>
            <a:lstStyle/>
            <a:p>
              <a:pPr algn="ctr"/>
              <a:r>
                <a:rPr lang="en-US" sz="1400" b="1" dirty="0">
                  <a:solidFill>
                    <a:srgbClr val="7030A0"/>
                  </a:solidFill>
                </a:rPr>
                <a:t>GFF3-based peptide projection</a:t>
              </a:r>
            </a:p>
          </p:txBody>
        </p:sp>
        <p:sp>
          <p:nvSpPr>
            <p:cNvPr id="34" name="TextBox 33">
              <a:extLst>
                <a:ext uri="{FF2B5EF4-FFF2-40B4-BE49-F238E27FC236}">
                  <a16:creationId xmlns:a16="http://schemas.microsoft.com/office/drawing/2014/main" id="{A3EB07E7-91B7-5F51-2384-3DCE469E80F8}"/>
                </a:ext>
              </a:extLst>
            </p:cNvPr>
            <p:cNvSpPr txBox="1"/>
            <p:nvPr/>
          </p:nvSpPr>
          <p:spPr>
            <a:xfrm>
              <a:off x="5298484" y="972724"/>
              <a:ext cx="1285198" cy="738664"/>
            </a:xfrm>
            <a:prstGeom prst="rect">
              <a:avLst/>
            </a:prstGeom>
            <a:noFill/>
          </p:spPr>
          <p:txBody>
            <a:bodyPr wrap="square" rtlCol="0">
              <a:spAutoFit/>
            </a:bodyPr>
            <a:lstStyle/>
            <a:p>
              <a:pPr algn="ctr"/>
              <a:r>
                <a:rPr lang="en-US" sz="1400" b="1" dirty="0">
                  <a:solidFill>
                    <a:srgbClr val="7030A0"/>
                  </a:solidFill>
                </a:rPr>
                <a:t>Apollo </a:t>
              </a:r>
              <a:r>
                <a:rPr lang="en-US" sz="1400" b="1" dirty="0" err="1">
                  <a:solidFill>
                    <a:srgbClr val="7030A0"/>
                  </a:solidFill>
                </a:rPr>
                <a:t>JBrowse</a:t>
              </a:r>
              <a:r>
                <a:rPr lang="en-US" sz="1400" b="1" dirty="0">
                  <a:solidFill>
                    <a:srgbClr val="7030A0"/>
                  </a:solidFill>
                </a:rPr>
                <a:t> deployment</a:t>
              </a:r>
              <a:endParaRPr lang="en-AU" sz="1400" b="1" dirty="0">
                <a:solidFill>
                  <a:srgbClr val="7030A0"/>
                </a:solidFill>
              </a:endParaRPr>
            </a:p>
          </p:txBody>
        </p:sp>
        <p:grpSp>
          <p:nvGrpSpPr>
            <p:cNvPr id="132" name="Group 131">
              <a:extLst>
                <a:ext uri="{FF2B5EF4-FFF2-40B4-BE49-F238E27FC236}">
                  <a16:creationId xmlns:a16="http://schemas.microsoft.com/office/drawing/2014/main" id="{5ADB7448-23F2-84E0-9145-9BD5F00D27E2}"/>
                </a:ext>
              </a:extLst>
            </p:cNvPr>
            <p:cNvGrpSpPr/>
            <p:nvPr/>
          </p:nvGrpSpPr>
          <p:grpSpPr>
            <a:xfrm>
              <a:off x="3764230" y="1940790"/>
              <a:ext cx="1012810" cy="585736"/>
              <a:chOff x="4065349" y="2569375"/>
              <a:chExt cx="1012810" cy="585736"/>
            </a:xfrm>
          </p:grpSpPr>
          <p:cxnSp>
            <p:nvCxnSpPr>
              <p:cNvPr id="63" name="Straight Connector 62">
                <a:extLst>
                  <a:ext uri="{FF2B5EF4-FFF2-40B4-BE49-F238E27FC236}">
                    <a16:creationId xmlns:a16="http://schemas.microsoft.com/office/drawing/2014/main" id="{1119471A-C8CC-6EFD-56CE-DFE2C430BC1B}"/>
                  </a:ext>
                </a:extLst>
              </p:cNvPr>
              <p:cNvCxnSpPr>
                <a:cxnSpLocks/>
              </p:cNvCxnSpPr>
              <p:nvPr/>
            </p:nvCxnSpPr>
            <p:spPr>
              <a:xfrm>
                <a:off x="4101554" y="2763265"/>
                <a:ext cx="889546" cy="0"/>
              </a:xfrm>
              <a:prstGeom prst="line">
                <a:avLst/>
              </a:prstGeom>
            </p:spPr>
            <p:style>
              <a:lnRef idx="2">
                <a:schemeClr val="dk1"/>
              </a:lnRef>
              <a:fillRef idx="0">
                <a:schemeClr val="dk1"/>
              </a:fillRef>
              <a:effectRef idx="1">
                <a:schemeClr val="dk1"/>
              </a:effectRef>
              <a:fontRef idx="minor">
                <a:schemeClr val="tx1"/>
              </a:fontRef>
            </p:style>
          </p:cxnSp>
          <p:sp>
            <p:nvSpPr>
              <p:cNvPr id="64" name="TextBox 63">
                <a:extLst>
                  <a:ext uri="{FF2B5EF4-FFF2-40B4-BE49-F238E27FC236}">
                    <a16:creationId xmlns:a16="http://schemas.microsoft.com/office/drawing/2014/main" id="{84FF848B-42B0-827F-B438-162BB8242CDC}"/>
                  </a:ext>
                </a:extLst>
              </p:cNvPr>
              <p:cNvSpPr txBox="1"/>
              <p:nvPr/>
            </p:nvSpPr>
            <p:spPr>
              <a:xfrm>
                <a:off x="4296221" y="2662786"/>
                <a:ext cx="413895" cy="123111"/>
              </a:xfrm>
              <a:prstGeom prst="rect">
                <a:avLst/>
              </a:prstGeom>
              <a:solidFill>
                <a:srgbClr val="FF3399"/>
              </a:solidFill>
              <a:ln>
                <a:noFill/>
              </a:ln>
            </p:spPr>
            <p:txBody>
              <a:bodyPr wrap="none" tIns="0" bIns="0" rtlCol="0" anchor="ctr" anchorCtr="0">
                <a:spAutoFit/>
              </a:bodyPr>
              <a:lstStyle/>
              <a:p>
                <a:pPr algn="ctr"/>
                <a:r>
                  <a:rPr lang="en-US" sz="800" b="1" dirty="0">
                    <a:solidFill>
                      <a:schemeClr val="bg1"/>
                    </a:solidFill>
                  </a:rPr>
                  <a:t>Exon</a:t>
                </a:r>
                <a:endParaRPr lang="en-AU" sz="800" b="1" dirty="0">
                  <a:solidFill>
                    <a:schemeClr val="bg1"/>
                  </a:solidFill>
                </a:endParaRPr>
              </a:p>
            </p:txBody>
          </p:sp>
          <p:grpSp>
            <p:nvGrpSpPr>
              <p:cNvPr id="66" name="Group 65">
                <a:extLst>
                  <a:ext uri="{FF2B5EF4-FFF2-40B4-BE49-F238E27FC236}">
                    <a16:creationId xmlns:a16="http://schemas.microsoft.com/office/drawing/2014/main" id="{3967DE92-9FB5-3AF6-ED4D-2CF71650F4DF}"/>
                  </a:ext>
                </a:extLst>
              </p:cNvPr>
              <p:cNvGrpSpPr/>
              <p:nvPr/>
            </p:nvGrpSpPr>
            <p:grpSpPr>
              <a:xfrm>
                <a:off x="4134637" y="2658484"/>
                <a:ext cx="138414" cy="100179"/>
                <a:chOff x="9747869" y="4416410"/>
                <a:chExt cx="370485" cy="210674"/>
              </a:xfrm>
            </p:grpSpPr>
            <p:cxnSp>
              <p:nvCxnSpPr>
                <p:cNvPr id="84" name="Straight Arrow Connector 83">
                  <a:extLst>
                    <a:ext uri="{FF2B5EF4-FFF2-40B4-BE49-F238E27FC236}">
                      <a16:creationId xmlns:a16="http://schemas.microsoft.com/office/drawing/2014/main" id="{78AF7294-1205-ED2B-0CAC-1E0E6FCF56FD}"/>
                    </a:ext>
                  </a:extLst>
                </p:cNvPr>
                <p:cNvCxnSpPr/>
                <p:nvPr/>
              </p:nvCxnSpPr>
              <p:spPr>
                <a:xfrm>
                  <a:off x="9747869" y="4434325"/>
                  <a:ext cx="370485" cy="0"/>
                </a:xfrm>
                <a:prstGeom prst="straightConnector1">
                  <a:avLst/>
                </a:prstGeom>
                <a:ln w="19050">
                  <a:solidFill>
                    <a:srgbClr val="3F007E"/>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AEC463B-5318-66BA-3DD4-E87D140F9300}"/>
                    </a:ext>
                  </a:extLst>
                </p:cNvPr>
                <p:cNvCxnSpPr/>
                <p:nvPr/>
              </p:nvCxnSpPr>
              <p:spPr>
                <a:xfrm>
                  <a:off x="9758545" y="4416410"/>
                  <a:ext cx="0" cy="210674"/>
                </a:xfrm>
                <a:prstGeom prst="line">
                  <a:avLst/>
                </a:prstGeom>
                <a:ln w="19050">
                  <a:solidFill>
                    <a:srgbClr val="3F007E"/>
                  </a:solidFill>
                </a:ln>
              </p:spPr>
              <p:style>
                <a:lnRef idx="2">
                  <a:schemeClr val="accent1"/>
                </a:lnRef>
                <a:fillRef idx="0">
                  <a:schemeClr val="accent1"/>
                </a:fillRef>
                <a:effectRef idx="1">
                  <a:schemeClr val="accent1"/>
                </a:effectRef>
                <a:fontRef idx="minor">
                  <a:schemeClr val="tx1"/>
                </a:fontRef>
              </p:style>
            </p:cxnSp>
          </p:grpSp>
          <p:sp>
            <p:nvSpPr>
              <p:cNvPr id="67" name="TextBox 66">
                <a:extLst>
                  <a:ext uri="{FF2B5EF4-FFF2-40B4-BE49-F238E27FC236}">
                    <a16:creationId xmlns:a16="http://schemas.microsoft.com/office/drawing/2014/main" id="{A52E15F6-7C53-5688-9129-CDA2B9140FD1}"/>
                  </a:ext>
                </a:extLst>
              </p:cNvPr>
              <p:cNvSpPr txBox="1"/>
              <p:nvPr/>
            </p:nvSpPr>
            <p:spPr>
              <a:xfrm>
                <a:off x="4633807" y="2594689"/>
                <a:ext cx="444352" cy="215444"/>
              </a:xfrm>
              <a:prstGeom prst="rect">
                <a:avLst/>
              </a:prstGeom>
              <a:noFill/>
            </p:spPr>
            <p:txBody>
              <a:bodyPr wrap="none" rtlCol="0">
                <a:spAutoFit/>
              </a:bodyPr>
              <a:lstStyle/>
              <a:p>
                <a:r>
                  <a:rPr lang="en-US" sz="800" dirty="0"/>
                  <a:t>intron</a:t>
                </a:r>
                <a:endParaRPr lang="en-AU" sz="800" dirty="0"/>
              </a:p>
            </p:txBody>
          </p:sp>
          <p:cxnSp>
            <p:nvCxnSpPr>
              <p:cNvPr id="68" name="Straight Connector 67">
                <a:extLst>
                  <a:ext uri="{FF2B5EF4-FFF2-40B4-BE49-F238E27FC236}">
                    <a16:creationId xmlns:a16="http://schemas.microsoft.com/office/drawing/2014/main" id="{AFE39858-EEE4-874F-4B90-50C0EFB608B5}"/>
                  </a:ext>
                </a:extLst>
              </p:cNvPr>
              <p:cNvCxnSpPr>
                <a:cxnSpLocks/>
              </p:cNvCxnSpPr>
              <p:nvPr/>
            </p:nvCxnSpPr>
            <p:spPr>
              <a:xfrm flipV="1">
                <a:off x="4349353" y="2857963"/>
                <a:ext cx="139792"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4C899B50-2193-85B1-5EBF-E58A3996EF4B}"/>
                  </a:ext>
                </a:extLst>
              </p:cNvPr>
              <p:cNvCxnSpPr>
                <a:cxnSpLocks/>
              </p:cNvCxnSpPr>
              <p:nvPr/>
            </p:nvCxnSpPr>
            <p:spPr>
              <a:xfrm flipV="1">
                <a:off x="4552330" y="2841316"/>
                <a:ext cx="139792"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B6D2FD4C-CF2F-CC5D-FDE7-596692AA1CEC}"/>
                  </a:ext>
                </a:extLst>
              </p:cNvPr>
              <p:cNvCxnSpPr>
                <a:cxnSpLocks/>
              </p:cNvCxnSpPr>
              <p:nvPr/>
            </p:nvCxnSpPr>
            <p:spPr>
              <a:xfrm flipV="1">
                <a:off x="4552330" y="3032053"/>
                <a:ext cx="139792"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B66C404F-4E84-48D4-3F0D-DBCE3A32B072}"/>
                  </a:ext>
                </a:extLst>
              </p:cNvPr>
              <p:cNvCxnSpPr>
                <a:cxnSpLocks/>
              </p:cNvCxnSpPr>
              <p:nvPr/>
            </p:nvCxnSpPr>
            <p:spPr>
              <a:xfrm rot="10800000" flipV="1">
                <a:off x="4341381" y="2980333"/>
                <a:ext cx="255882"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DCC6727-FFC3-99E9-73DE-B6F01719CEFA}"/>
                  </a:ext>
                </a:extLst>
              </p:cNvPr>
              <p:cNvCxnSpPr>
                <a:cxnSpLocks/>
              </p:cNvCxnSpPr>
              <p:nvPr/>
            </p:nvCxnSpPr>
            <p:spPr>
              <a:xfrm rot="10800000" flipV="1">
                <a:off x="4436229" y="3084038"/>
                <a:ext cx="255882"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3D2029D3-C4FC-D7CC-9DD7-CFB0EED1580C}"/>
                  </a:ext>
                </a:extLst>
              </p:cNvPr>
              <p:cNvCxnSpPr>
                <a:cxnSpLocks/>
              </p:cNvCxnSpPr>
              <p:nvPr/>
            </p:nvCxnSpPr>
            <p:spPr>
              <a:xfrm rot="10800000" flipV="1">
                <a:off x="4463504" y="2914082"/>
                <a:ext cx="255882"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sp>
            <p:nvSpPr>
              <p:cNvPr id="80" name="Rectangle 79">
                <a:extLst>
                  <a:ext uri="{FF2B5EF4-FFF2-40B4-BE49-F238E27FC236}">
                    <a16:creationId xmlns:a16="http://schemas.microsoft.com/office/drawing/2014/main" id="{4882BC50-73D4-1DD7-D836-C6FF57BF400F}"/>
                  </a:ext>
                </a:extLst>
              </p:cNvPr>
              <p:cNvSpPr/>
              <p:nvPr/>
            </p:nvSpPr>
            <p:spPr>
              <a:xfrm>
                <a:off x="4065349" y="2569375"/>
                <a:ext cx="954325" cy="585736"/>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800"/>
              </a:p>
            </p:txBody>
          </p:sp>
        </p:grpSp>
        <p:grpSp>
          <p:nvGrpSpPr>
            <p:cNvPr id="38" name="Group 37">
              <a:extLst>
                <a:ext uri="{FF2B5EF4-FFF2-40B4-BE49-F238E27FC236}">
                  <a16:creationId xmlns:a16="http://schemas.microsoft.com/office/drawing/2014/main" id="{49B0ED91-8B71-A756-9A5A-7A35CF9ADD60}"/>
                </a:ext>
              </a:extLst>
            </p:cNvPr>
            <p:cNvGrpSpPr/>
            <p:nvPr/>
          </p:nvGrpSpPr>
          <p:grpSpPr>
            <a:xfrm>
              <a:off x="1740812" y="1757411"/>
              <a:ext cx="1267504" cy="952495"/>
              <a:chOff x="3631570" y="4092432"/>
              <a:chExt cx="1688229" cy="952495"/>
            </a:xfrm>
          </p:grpSpPr>
          <p:pic>
            <p:nvPicPr>
              <p:cNvPr id="52" name="Picture 51">
                <a:extLst>
                  <a:ext uri="{FF2B5EF4-FFF2-40B4-BE49-F238E27FC236}">
                    <a16:creationId xmlns:a16="http://schemas.microsoft.com/office/drawing/2014/main" id="{2C26F829-11D7-7E9E-3B2A-263C5BA712AF}"/>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3854" t="1" b="1996"/>
              <a:stretch>
                <a:fillRect/>
              </a:stretch>
            </p:blipFill>
            <p:spPr>
              <a:xfrm>
                <a:off x="3733558" y="4564064"/>
                <a:ext cx="1553864" cy="385880"/>
              </a:xfrm>
              <a:prstGeom prst="rect">
                <a:avLst/>
              </a:prstGeom>
              <a:ln>
                <a:noFill/>
              </a:ln>
            </p:spPr>
          </p:pic>
          <p:pic>
            <p:nvPicPr>
              <p:cNvPr id="53" name="Picture 52">
                <a:extLst>
                  <a:ext uri="{FF2B5EF4-FFF2-40B4-BE49-F238E27FC236}">
                    <a16:creationId xmlns:a16="http://schemas.microsoft.com/office/drawing/2014/main" id="{4F2EF78D-1F61-4955-3CFC-ED4FE3964968}"/>
                  </a:ext>
                </a:extLst>
              </p:cNvPr>
              <p:cNvPicPr>
                <a:picLocks noChangeAspect="1"/>
              </p:cNvPicPr>
              <p:nvPr/>
            </p:nvPicPr>
            <p:blipFill rotWithShape="1">
              <a:blip r:embed="rId4">
                <a:biLevel thresh="50000"/>
              </a:blip>
              <a:srcRect t="41546"/>
              <a:stretch/>
            </p:blipFill>
            <p:spPr>
              <a:xfrm>
                <a:off x="3733558" y="4286136"/>
                <a:ext cx="1553864" cy="202683"/>
              </a:xfrm>
              <a:prstGeom prst="rect">
                <a:avLst/>
              </a:prstGeom>
            </p:spPr>
          </p:pic>
          <p:sp>
            <p:nvSpPr>
              <p:cNvPr id="54" name="TextBox 53">
                <a:extLst>
                  <a:ext uri="{FF2B5EF4-FFF2-40B4-BE49-F238E27FC236}">
                    <a16:creationId xmlns:a16="http://schemas.microsoft.com/office/drawing/2014/main" id="{715DCAE0-120F-428B-BAE6-2E89E4A291F0}"/>
                  </a:ext>
                </a:extLst>
              </p:cNvPr>
              <p:cNvSpPr txBox="1"/>
              <p:nvPr/>
            </p:nvSpPr>
            <p:spPr>
              <a:xfrm>
                <a:off x="3733558" y="4092432"/>
                <a:ext cx="673582" cy="184666"/>
              </a:xfrm>
              <a:prstGeom prst="rect">
                <a:avLst/>
              </a:prstGeom>
              <a:noFill/>
            </p:spPr>
            <p:txBody>
              <a:bodyPr wrap="none" rtlCol="0">
                <a:spAutoFit/>
              </a:bodyPr>
              <a:lstStyle/>
              <a:p>
                <a:r>
                  <a:rPr lang="en-US" sz="600" b="1" dirty="0"/>
                  <a:t>LC separation</a:t>
                </a:r>
                <a:endParaRPr lang="en-AU" sz="600" b="1" dirty="0"/>
              </a:p>
            </p:txBody>
          </p:sp>
          <p:sp>
            <p:nvSpPr>
              <p:cNvPr id="55" name="TextBox 54">
                <a:extLst>
                  <a:ext uri="{FF2B5EF4-FFF2-40B4-BE49-F238E27FC236}">
                    <a16:creationId xmlns:a16="http://schemas.microsoft.com/office/drawing/2014/main" id="{2C1F2794-AFDF-AA2A-D4A7-E22096BA56C0}"/>
                  </a:ext>
                </a:extLst>
              </p:cNvPr>
              <p:cNvSpPr txBox="1"/>
              <p:nvPr/>
            </p:nvSpPr>
            <p:spPr>
              <a:xfrm>
                <a:off x="3733558" y="4460022"/>
                <a:ext cx="697627" cy="184666"/>
              </a:xfrm>
              <a:prstGeom prst="rect">
                <a:avLst/>
              </a:prstGeom>
              <a:noFill/>
            </p:spPr>
            <p:txBody>
              <a:bodyPr wrap="none" rtlCol="0">
                <a:spAutoFit/>
              </a:bodyPr>
              <a:lstStyle/>
              <a:p>
                <a:r>
                  <a:rPr lang="en-US" sz="600" b="1" dirty="0"/>
                  <a:t>MS2 Spectrum</a:t>
                </a:r>
                <a:endParaRPr lang="en-AU" sz="600" b="1" dirty="0"/>
              </a:p>
            </p:txBody>
          </p:sp>
          <p:sp>
            <p:nvSpPr>
              <p:cNvPr id="56" name="TextBox 55">
                <a:extLst>
                  <a:ext uri="{FF2B5EF4-FFF2-40B4-BE49-F238E27FC236}">
                    <a16:creationId xmlns:a16="http://schemas.microsoft.com/office/drawing/2014/main" id="{E161DF02-0645-35AE-52EF-308B9374DF63}"/>
                  </a:ext>
                </a:extLst>
              </p:cNvPr>
              <p:cNvSpPr txBox="1"/>
              <p:nvPr/>
            </p:nvSpPr>
            <p:spPr>
              <a:xfrm rot="16200000">
                <a:off x="3531543" y="4278476"/>
                <a:ext cx="338554" cy="138499"/>
              </a:xfrm>
              <a:prstGeom prst="rect">
                <a:avLst/>
              </a:prstGeom>
              <a:noFill/>
            </p:spPr>
            <p:txBody>
              <a:bodyPr wrap="none" rtlCol="0">
                <a:spAutoFit/>
              </a:bodyPr>
              <a:lstStyle/>
              <a:p>
                <a:r>
                  <a:rPr lang="en-US" sz="300" b="1" dirty="0"/>
                  <a:t>Intensity</a:t>
                </a:r>
                <a:endParaRPr lang="en-AU" sz="800" b="1" dirty="0"/>
              </a:p>
            </p:txBody>
          </p:sp>
          <p:sp>
            <p:nvSpPr>
              <p:cNvPr id="57" name="Rectangle 56">
                <a:extLst>
                  <a:ext uri="{FF2B5EF4-FFF2-40B4-BE49-F238E27FC236}">
                    <a16:creationId xmlns:a16="http://schemas.microsoft.com/office/drawing/2014/main" id="{F5558F1B-3144-DBBD-5E93-EB8318599FA5}"/>
                  </a:ext>
                </a:extLst>
              </p:cNvPr>
              <p:cNvSpPr/>
              <p:nvPr/>
            </p:nvSpPr>
            <p:spPr>
              <a:xfrm>
                <a:off x="3668081" y="4119672"/>
                <a:ext cx="1651718" cy="885118"/>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8" name="Straight Connector 57">
                <a:extLst>
                  <a:ext uri="{FF2B5EF4-FFF2-40B4-BE49-F238E27FC236}">
                    <a16:creationId xmlns:a16="http://schemas.microsoft.com/office/drawing/2014/main" id="{6128E4A4-29EA-4F80-0EAE-C3E3026D4C75}"/>
                  </a:ext>
                </a:extLst>
              </p:cNvPr>
              <p:cNvCxnSpPr>
                <a:cxnSpLocks/>
              </p:cNvCxnSpPr>
              <p:nvPr/>
            </p:nvCxnSpPr>
            <p:spPr>
              <a:xfrm>
                <a:off x="3668081" y="4490373"/>
                <a:ext cx="1651718" cy="0"/>
              </a:xfrm>
              <a:prstGeom prst="line">
                <a:avLst/>
              </a:prstGeom>
              <a:ln w="9525"/>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C3E2A2FF-4C18-7752-AF1D-0B9F314D5E65}"/>
                  </a:ext>
                </a:extLst>
              </p:cNvPr>
              <p:cNvCxnSpPr>
                <a:cxnSpLocks/>
              </p:cNvCxnSpPr>
              <p:nvPr/>
            </p:nvCxnSpPr>
            <p:spPr>
              <a:xfrm>
                <a:off x="4201146" y="4244006"/>
                <a:ext cx="0" cy="101600"/>
              </a:xfrm>
              <a:prstGeom prst="straightConnector1">
                <a:avLst/>
              </a:prstGeom>
              <a:ln w="12700">
                <a:tailEnd type="triangle" w="sm" len="sm"/>
              </a:ln>
            </p:spPr>
            <p:style>
              <a:lnRef idx="2">
                <a:schemeClr val="accent2"/>
              </a:lnRef>
              <a:fillRef idx="0">
                <a:schemeClr val="accent2"/>
              </a:fillRef>
              <a:effectRef idx="1">
                <a:schemeClr val="accent2"/>
              </a:effectRef>
              <a:fontRef idx="minor">
                <a:schemeClr val="tx1"/>
              </a:fontRef>
            </p:style>
          </p:cxnSp>
          <p:sp>
            <p:nvSpPr>
              <p:cNvPr id="60" name="TextBox 59">
                <a:extLst>
                  <a:ext uri="{FF2B5EF4-FFF2-40B4-BE49-F238E27FC236}">
                    <a16:creationId xmlns:a16="http://schemas.microsoft.com/office/drawing/2014/main" id="{9F607872-4645-EE5A-D6F0-2CBEE1997B4B}"/>
                  </a:ext>
                </a:extLst>
              </p:cNvPr>
              <p:cNvSpPr txBox="1"/>
              <p:nvPr/>
            </p:nvSpPr>
            <p:spPr>
              <a:xfrm>
                <a:off x="4436382" y="4906428"/>
                <a:ext cx="290464" cy="138499"/>
              </a:xfrm>
              <a:prstGeom prst="rect">
                <a:avLst/>
              </a:prstGeom>
              <a:noFill/>
            </p:spPr>
            <p:txBody>
              <a:bodyPr wrap="square" rtlCol="0">
                <a:spAutoFit/>
              </a:bodyPr>
              <a:lstStyle/>
              <a:p>
                <a:r>
                  <a:rPr lang="en-US" sz="300" dirty="0"/>
                  <a:t>m/z</a:t>
                </a:r>
                <a:endParaRPr lang="en-AU" sz="300" dirty="0"/>
              </a:p>
            </p:txBody>
          </p:sp>
          <p:sp>
            <p:nvSpPr>
              <p:cNvPr id="61" name="TextBox 60">
                <a:extLst>
                  <a:ext uri="{FF2B5EF4-FFF2-40B4-BE49-F238E27FC236}">
                    <a16:creationId xmlns:a16="http://schemas.microsoft.com/office/drawing/2014/main" id="{C4430F2B-8538-E0F7-F5D6-E7AC1C944740}"/>
                  </a:ext>
                </a:extLst>
              </p:cNvPr>
              <p:cNvSpPr txBox="1"/>
              <p:nvPr/>
            </p:nvSpPr>
            <p:spPr>
              <a:xfrm>
                <a:off x="3756333" y="4599304"/>
                <a:ext cx="970512" cy="169277"/>
              </a:xfrm>
              <a:prstGeom prst="rect">
                <a:avLst/>
              </a:prstGeom>
              <a:noFill/>
            </p:spPr>
            <p:txBody>
              <a:bodyPr wrap="square">
                <a:spAutoFit/>
              </a:bodyPr>
              <a:lstStyle/>
              <a:p>
                <a:r>
                  <a:rPr lang="en-AU" sz="500" dirty="0">
                    <a:solidFill>
                      <a:srgbClr val="E97132"/>
                    </a:solidFill>
                  </a:rPr>
                  <a:t>TEPNAIISGMVR</a:t>
                </a:r>
              </a:p>
            </p:txBody>
          </p:sp>
          <p:sp>
            <p:nvSpPr>
              <p:cNvPr id="62" name="TextBox 61">
                <a:extLst>
                  <a:ext uri="{FF2B5EF4-FFF2-40B4-BE49-F238E27FC236}">
                    <a16:creationId xmlns:a16="http://schemas.microsoft.com/office/drawing/2014/main" id="{04B7C375-BAE8-5CCE-4CC2-E82EC59A37B0}"/>
                  </a:ext>
                </a:extLst>
              </p:cNvPr>
              <p:cNvSpPr txBox="1"/>
              <p:nvPr/>
            </p:nvSpPr>
            <p:spPr>
              <a:xfrm rot="16200000">
                <a:off x="3531544" y="4706044"/>
                <a:ext cx="338554" cy="138499"/>
              </a:xfrm>
              <a:prstGeom prst="rect">
                <a:avLst/>
              </a:prstGeom>
              <a:noFill/>
            </p:spPr>
            <p:txBody>
              <a:bodyPr wrap="none" rtlCol="0">
                <a:spAutoFit/>
              </a:bodyPr>
              <a:lstStyle/>
              <a:p>
                <a:r>
                  <a:rPr lang="en-US" sz="300" b="1" dirty="0"/>
                  <a:t>Intensity</a:t>
                </a:r>
                <a:endParaRPr lang="en-AU" sz="800" b="1" dirty="0"/>
              </a:p>
            </p:txBody>
          </p:sp>
        </p:grpSp>
        <p:sp>
          <p:nvSpPr>
            <p:cNvPr id="39" name="Rectangle: Rounded Corners 38">
              <a:extLst>
                <a:ext uri="{FF2B5EF4-FFF2-40B4-BE49-F238E27FC236}">
                  <a16:creationId xmlns:a16="http://schemas.microsoft.com/office/drawing/2014/main" id="{E41B0DBB-85D2-54EB-9164-CD5AF740EA1A}"/>
                </a:ext>
              </a:extLst>
            </p:cNvPr>
            <p:cNvSpPr/>
            <p:nvPr/>
          </p:nvSpPr>
          <p:spPr>
            <a:xfrm>
              <a:off x="135307" y="874643"/>
              <a:ext cx="6448375" cy="1995778"/>
            </a:xfrm>
            <a:prstGeom prst="roundRect">
              <a:avLst>
                <a:gd name="adj" fmla="val 4994"/>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6" name="Arrow: Down 125">
              <a:extLst>
                <a:ext uri="{FF2B5EF4-FFF2-40B4-BE49-F238E27FC236}">
                  <a16:creationId xmlns:a16="http://schemas.microsoft.com/office/drawing/2014/main" id="{E081107F-DE26-FD46-FC1B-05F8F333DF0E}"/>
                </a:ext>
              </a:extLst>
            </p:cNvPr>
            <p:cNvSpPr/>
            <p:nvPr/>
          </p:nvSpPr>
          <p:spPr>
            <a:xfrm rot="16200000">
              <a:off x="2909111" y="1995867"/>
              <a:ext cx="954324" cy="475584"/>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pic>
          <p:nvPicPr>
            <p:cNvPr id="127" name="Picture 126">
              <a:extLst>
                <a:ext uri="{FF2B5EF4-FFF2-40B4-BE49-F238E27FC236}">
                  <a16:creationId xmlns:a16="http://schemas.microsoft.com/office/drawing/2014/main" id="{3D2DAA26-A3ED-0399-2139-A402DA5D7A30}"/>
                </a:ext>
              </a:extLst>
            </p:cNvPr>
            <p:cNvPicPr>
              <a:picLocks noChangeAspect="1"/>
            </p:cNvPicPr>
            <p:nvPr/>
          </p:nvPicPr>
          <p:blipFill>
            <a:blip r:embed="rId5"/>
            <a:srcRect l="50096" r="24786" b="9383"/>
            <a:stretch>
              <a:fillRect/>
            </a:stretch>
          </p:blipFill>
          <p:spPr>
            <a:xfrm>
              <a:off x="5532952" y="1815861"/>
              <a:ext cx="811034" cy="835595"/>
            </a:xfrm>
            <a:prstGeom prst="rect">
              <a:avLst/>
            </a:prstGeom>
            <a:ln>
              <a:solidFill>
                <a:schemeClr val="tx1"/>
              </a:solidFill>
            </a:ln>
          </p:spPr>
        </p:pic>
        <p:sp>
          <p:nvSpPr>
            <p:cNvPr id="128" name="Arrow: Down 127">
              <a:extLst>
                <a:ext uri="{FF2B5EF4-FFF2-40B4-BE49-F238E27FC236}">
                  <a16:creationId xmlns:a16="http://schemas.microsoft.com/office/drawing/2014/main" id="{A218DFFF-CC4E-BD46-FB96-FF2490B602C8}"/>
                </a:ext>
              </a:extLst>
            </p:cNvPr>
            <p:cNvSpPr/>
            <p:nvPr/>
          </p:nvSpPr>
          <p:spPr>
            <a:xfrm rot="16200000">
              <a:off x="4677835" y="1995866"/>
              <a:ext cx="954324" cy="475584"/>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grpSp>
    </p:spTree>
    <p:extLst>
      <p:ext uri="{BB962C8B-B14F-4D97-AF65-F5344CB8AC3E}">
        <p14:creationId xmlns:p14="http://schemas.microsoft.com/office/powerpoint/2010/main" val="1951484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513BBC-82E8-B44F-624E-70E9350720F1}"/>
              </a:ext>
            </a:extLst>
          </p:cNvPr>
          <p:cNvSpPr txBox="1"/>
          <p:nvPr/>
        </p:nvSpPr>
        <p:spPr>
          <a:xfrm>
            <a:off x="-38360" y="-22078"/>
            <a:ext cx="6908391" cy="507831"/>
          </a:xfrm>
          <a:prstGeom prst="rect">
            <a:avLst/>
          </a:prstGeom>
          <a:noFill/>
        </p:spPr>
        <p:txBody>
          <a:bodyPr wrap="square" rtlCol="0">
            <a:spAutoFit/>
          </a:bodyPr>
          <a:lstStyle/>
          <a:p>
            <a:r>
              <a:rPr lang="en-US" sz="900" b="1" dirty="0"/>
              <a:t>Figure 1: Overview of the wheat proteogenomic workflow. </a:t>
            </a:r>
            <a:r>
              <a:rPr lang="en-US" sz="900" dirty="0"/>
              <a:t>Genome-based workflow developed in this study involving raw LC–MS/MS reanalysis against the IWGSC </a:t>
            </a:r>
            <a:r>
              <a:rPr lang="en-US" sz="900" dirty="0" err="1"/>
              <a:t>RefSeq</a:t>
            </a:r>
            <a:r>
              <a:rPr lang="en-US" sz="900" dirty="0"/>
              <a:t> v2.1 proteome, followed by peptide projection using GFF3 annotation files and generation of browser-ready BED6/BED12 tracks for Apollo </a:t>
            </a:r>
            <a:r>
              <a:rPr lang="en-US" sz="900" dirty="0" err="1"/>
              <a:t>JBrowse</a:t>
            </a:r>
            <a:r>
              <a:rPr lang="en-US" sz="900" dirty="0"/>
              <a:t> visualization; details are available in Suppl. Fig. S1 and </a:t>
            </a:r>
            <a:r>
              <a:rPr lang="en-US" sz="900" dirty="0" err="1"/>
              <a:t>Jupyter</a:t>
            </a:r>
            <a:r>
              <a:rPr lang="en-US" sz="900" dirty="0"/>
              <a:t> Notebook.</a:t>
            </a:r>
            <a:endParaRPr lang="en-AU" sz="900" b="1" dirty="0"/>
          </a:p>
        </p:txBody>
      </p:sp>
      <p:grpSp>
        <p:nvGrpSpPr>
          <p:cNvPr id="5" name="Group 4">
            <a:extLst>
              <a:ext uri="{FF2B5EF4-FFF2-40B4-BE49-F238E27FC236}">
                <a16:creationId xmlns:a16="http://schemas.microsoft.com/office/drawing/2014/main" id="{C5588454-3761-F20D-3F33-AFF2E845CE70}"/>
              </a:ext>
            </a:extLst>
          </p:cNvPr>
          <p:cNvGrpSpPr/>
          <p:nvPr/>
        </p:nvGrpSpPr>
        <p:grpSpPr>
          <a:xfrm>
            <a:off x="54387" y="595761"/>
            <a:ext cx="3342841" cy="8869786"/>
            <a:chOff x="54387" y="595761"/>
            <a:chExt cx="3342841" cy="8869786"/>
          </a:xfrm>
        </p:grpSpPr>
        <p:sp>
          <p:nvSpPr>
            <p:cNvPr id="254" name="Rectangle: Top Corners Rounded 253">
              <a:extLst>
                <a:ext uri="{FF2B5EF4-FFF2-40B4-BE49-F238E27FC236}">
                  <a16:creationId xmlns:a16="http://schemas.microsoft.com/office/drawing/2014/main" id="{5B46E63C-AB85-E522-2BF8-8773F648D487}"/>
                </a:ext>
              </a:extLst>
            </p:cNvPr>
            <p:cNvSpPr/>
            <p:nvPr/>
          </p:nvSpPr>
          <p:spPr>
            <a:xfrm>
              <a:off x="54387" y="607396"/>
              <a:ext cx="3324808" cy="633345"/>
            </a:xfrm>
            <a:prstGeom prst="round2SameRect">
              <a:avLst>
                <a:gd name="adj1" fmla="val 23853"/>
                <a:gd name="adj2" fmla="val 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descr="FragPipe | A complete proteomics pipeline with the MSFragger search engine  at heart">
              <a:extLst>
                <a:ext uri="{FF2B5EF4-FFF2-40B4-BE49-F238E27FC236}">
                  <a16:creationId xmlns:a16="http://schemas.microsoft.com/office/drawing/2014/main" id="{02FF8B77-A591-6A83-FCFA-DE6FA533FC93}"/>
                </a:ext>
              </a:extLst>
            </p:cNvPr>
            <p:cNvPicPr>
              <a:picLocks noChangeAspect="1"/>
            </p:cNvPicPr>
            <p:nvPr/>
          </p:nvPicPr>
          <p:blipFill>
            <a:blip r:embed="rId2"/>
            <a:stretch>
              <a:fillRect/>
            </a:stretch>
          </p:blipFill>
          <p:spPr>
            <a:xfrm>
              <a:off x="2108393" y="4288883"/>
              <a:ext cx="1043614" cy="447263"/>
            </a:xfrm>
            <a:prstGeom prst="rect">
              <a:avLst/>
            </a:prstGeom>
          </p:spPr>
        </p:pic>
        <p:sp>
          <p:nvSpPr>
            <p:cNvPr id="76" name="TextBox 75">
              <a:extLst>
                <a:ext uri="{FF2B5EF4-FFF2-40B4-BE49-F238E27FC236}">
                  <a16:creationId xmlns:a16="http://schemas.microsoft.com/office/drawing/2014/main" id="{6183AFB0-E92B-3FF3-E208-4BA22086D70F}"/>
                </a:ext>
              </a:extLst>
            </p:cNvPr>
            <p:cNvSpPr txBox="1"/>
            <p:nvPr/>
          </p:nvSpPr>
          <p:spPr>
            <a:xfrm>
              <a:off x="360973" y="2430102"/>
              <a:ext cx="1053494" cy="553998"/>
            </a:xfrm>
            <a:prstGeom prst="rect">
              <a:avLst/>
            </a:prstGeom>
            <a:noFill/>
          </p:spPr>
          <p:txBody>
            <a:bodyPr wrap="none" rtlCol="0">
              <a:spAutoFit/>
            </a:bodyPr>
            <a:lstStyle/>
            <a:p>
              <a:r>
                <a:rPr lang="en-US" sz="1000" dirty="0"/>
                <a:t>MSV000090572</a:t>
              </a:r>
            </a:p>
            <a:p>
              <a:r>
                <a:rPr lang="en-US" sz="1000" dirty="0"/>
                <a:t>PXD004720</a:t>
              </a:r>
            </a:p>
            <a:p>
              <a:r>
                <a:rPr lang="en-AU" sz="1000" dirty="0"/>
                <a:t>PXD050500</a:t>
              </a:r>
            </a:p>
          </p:txBody>
        </p:sp>
        <p:pic>
          <p:nvPicPr>
            <p:cNvPr id="79" name="Picture 78">
              <a:extLst>
                <a:ext uri="{FF2B5EF4-FFF2-40B4-BE49-F238E27FC236}">
                  <a16:creationId xmlns:a16="http://schemas.microsoft.com/office/drawing/2014/main" id="{A34951F5-00FA-32D5-ED25-0EBBA176CC09}"/>
                </a:ext>
              </a:extLst>
            </p:cNvPr>
            <p:cNvPicPr>
              <a:picLocks noChangeAspect="1"/>
            </p:cNvPicPr>
            <p:nvPr/>
          </p:nvPicPr>
          <p:blipFill rotWithShape="1">
            <a:blip r:embed="rId3">
              <a:clrChange>
                <a:clrFrom>
                  <a:srgbClr val="F7F7F7"/>
                </a:clrFrom>
                <a:clrTo>
                  <a:srgbClr val="F7F7F7">
                    <a:alpha val="0"/>
                  </a:srgbClr>
                </a:clrTo>
              </a:clrChange>
            </a:blip>
            <a:srcRect l="55006" t="3735"/>
            <a:stretch/>
          </p:blipFill>
          <p:spPr>
            <a:xfrm>
              <a:off x="2239109" y="6222798"/>
              <a:ext cx="526052" cy="536778"/>
            </a:xfrm>
            <a:prstGeom prst="rect">
              <a:avLst/>
            </a:prstGeom>
          </p:spPr>
        </p:pic>
        <p:sp>
          <p:nvSpPr>
            <p:cNvPr id="86" name="TextBox 85">
              <a:extLst>
                <a:ext uri="{FF2B5EF4-FFF2-40B4-BE49-F238E27FC236}">
                  <a16:creationId xmlns:a16="http://schemas.microsoft.com/office/drawing/2014/main" id="{CD9B1639-CF13-D245-BDB4-ECE140F67D39}"/>
                </a:ext>
              </a:extLst>
            </p:cNvPr>
            <p:cNvSpPr txBox="1"/>
            <p:nvPr/>
          </p:nvSpPr>
          <p:spPr>
            <a:xfrm>
              <a:off x="416130" y="1257512"/>
              <a:ext cx="2631321" cy="369332"/>
            </a:xfrm>
            <a:prstGeom prst="rect">
              <a:avLst/>
            </a:prstGeom>
            <a:noFill/>
          </p:spPr>
          <p:txBody>
            <a:bodyPr wrap="square" rtlCol="0">
              <a:spAutoFit/>
            </a:bodyPr>
            <a:lstStyle/>
            <a:p>
              <a:pPr algn="ctr"/>
              <a:r>
                <a:rPr lang="en-US" b="1" dirty="0">
                  <a:solidFill>
                    <a:srgbClr val="7030A0"/>
                  </a:solidFill>
                </a:rPr>
                <a:t>Public raw LC-MS2 data</a:t>
              </a:r>
            </a:p>
          </p:txBody>
        </p:sp>
        <p:grpSp>
          <p:nvGrpSpPr>
            <p:cNvPr id="87" name="Group 86">
              <a:extLst>
                <a:ext uri="{FF2B5EF4-FFF2-40B4-BE49-F238E27FC236}">
                  <a16:creationId xmlns:a16="http://schemas.microsoft.com/office/drawing/2014/main" id="{84FE6ED1-E932-3F27-CB3C-8ECD8F631D28}"/>
                </a:ext>
              </a:extLst>
            </p:cNvPr>
            <p:cNvGrpSpPr/>
            <p:nvPr/>
          </p:nvGrpSpPr>
          <p:grpSpPr>
            <a:xfrm>
              <a:off x="418762" y="1638754"/>
              <a:ext cx="532642" cy="780959"/>
              <a:chOff x="9749704" y="2393699"/>
              <a:chExt cx="731685" cy="1307614"/>
            </a:xfrm>
          </p:grpSpPr>
          <p:sp>
            <p:nvSpPr>
              <p:cNvPr id="88" name="Flowchart: Magnetic Disk 87">
                <a:extLst>
                  <a:ext uri="{FF2B5EF4-FFF2-40B4-BE49-F238E27FC236}">
                    <a16:creationId xmlns:a16="http://schemas.microsoft.com/office/drawing/2014/main" id="{EC6165A4-8CB0-BE34-993C-2D0050BE6461}"/>
                  </a:ext>
                </a:extLst>
              </p:cNvPr>
              <p:cNvSpPr/>
              <p:nvPr/>
            </p:nvSpPr>
            <p:spPr>
              <a:xfrm>
                <a:off x="9749704" y="3221263"/>
                <a:ext cx="731685" cy="480050"/>
              </a:xfrm>
              <a:prstGeom prst="flowChartMagneticDisk">
                <a:avLst/>
              </a:prstGeom>
              <a:gradFill flip="none" rotWithShape="1">
                <a:gsLst>
                  <a:gs pos="0">
                    <a:schemeClr val="bg1">
                      <a:lumMod val="85000"/>
                    </a:schemeClr>
                  </a:gs>
                  <a:gs pos="81000">
                    <a:schemeClr val="bg1">
                      <a:lumMod val="50000"/>
                    </a:schemeClr>
                  </a:gs>
                  <a:gs pos="100000">
                    <a:schemeClr val="tx1">
                      <a:lumMod val="50000"/>
                      <a:lumOff val="50000"/>
                    </a:schemeClr>
                  </a:gs>
                </a:gsLst>
                <a:lin ang="0" scaled="1"/>
                <a:tileRect/>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Flowchart: Magnetic Disk 88">
                <a:extLst>
                  <a:ext uri="{FF2B5EF4-FFF2-40B4-BE49-F238E27FC236}">
                    <a16:creationId xmlns:a16="http://schemas.microsoft.com/office/drawing/2014/main" id="{F5B70C0A-766D-0D44-B1C8-06113495271A}"/>
                  </a:ext>
                </a:extLst>
              </p:cNvPr>
              <p:cNvSpPr/>
              <p:nvPr/>
            </p:nvSpPr>
            <p:spPr>
              <a:xfrm>
                <a:off x="9781291" y="3101156"/>
                <a:ext cx="669362" cy="266470"/>
              </a:xfrm>
              <a:prstGeom prst="flowChartMagneticDisk">
                <a:avLst/>
              </a:prstGeom>
              <a:solidFill>
                <a:schemeClr val="tx1">
                  <a:lumMod val="65000"/>
                  <a:lumOff val="3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Flowchart: Magnetic Disk 89">
                <a:extLst>
                  <a:ext uri="{FF2B5EF4-FFF2-40B4-BE49-F238E27FC236}">
                    <a16:creationId xmlns:a16="http://schemas.microsoft.com/office/drawing/2014/main" id="{83053A84-FE1D-3392-3E1A-ACE722F835BB}"/>
                  </a:ext>
                </a:extLst>
              </p:cNvPr>
              <p:cNvSpPr/>
              <p:nvPr/>
            </p:nvSpPr>
            <p:spPr>
              <a:xfrm>
                <a:off x="9749704" y="2808463"/>
                <a:ext cx="731685" cy="480050"/>
              </a:xfrm>
              <a:prstGeom prst="flowChartMagneticDisk">
                <a:avLst/>
              </a:prstGeom>
              <a:gradFill flip="none" rotWithShape="1">
                <a:gsLst>
                  <a:gs pos="0">
                    <a:schemeClr val="bg1">
                      <a:lumMod val="85000"/>
                    </a:schemeClr>
                  </a:gs>
                  <a:gs pos="81000">
                    <a:schemeClr val="bg1">
                      <a:lumMod val="50000"/>
                    </a:schemeClr>
                  </a:gs>
                  <a:gs pos="100000">
                    <a:schemeClr val="tx1">
                      <a:lumMod val="50000"/>
                      <a:lumOff val="50000"/>
                    </a:schemeClr>
                  </a:gs>
                </a:gsLst>
                <a:lin ang="0" scaled="1"/>
                <a:tileRect/>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1" name="Flowchart: Magnetic Disk 90">
                <a:extLst>
                  <a:ext uri="{FF2B5EF4-FFF2-40B4-BE49-F238E27FC236}">
                    <a16:creationId xmlns:a16="http://schemas.microsoft.com/office/drawing/2014/main" id="{A960D5E7-03BF-342B-8FB7-5A98DB56FDC8}"/>
                  </a:ext>
                </a:extLst>
              </p:cNvPr>
              <p:cNvSpPr/>
              <p:nvPr/>
            </p:nvSpPr>
            <p:spPr>
              <a:xfrm>
                <a:off x="9781291" y="2694553"/>
                <a:ext cx="669362" cy="266470"/>
              </a:xfrm>
              <a:prstGeom prst="flowChartMagneticDisk">
                <a:avLst/>
              </a:prstGeom>
              <a:solidFill>
                <a:schemeClr val="tx1">
                  <a:lumMod val="65000"/>
                  <a:lumOff val="3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2" name="Flowchart: Magnetic Disk 91">
                <a:extLst>
                  <a:ext uri="{FF2B5EF4-FFF2-40B4-BE49-F238E27FC236}">
                    <a16:creationId xmlns:a16="http://schemas.microsoft.com/office/drawing/2014/main" id="{01945AAB-210A-AF3D-1FDD-C7E9C845BC51}"/>
                  </a:ext>
                </a:extLst>
              </p:cNvPr>
              <p:cNvSpPr/>
              <p:nvPr/>
            </p:nvSpPr>
            <p:spPr>
              <a:xfrm>
                <a:off x="9749704" y="2393699"/>
                <a:ext cx="731685" cy="480050"/>
              </a:xfrm>
              <a:prstGeom prst="flowChartMagneticDisk">
                <a:avLst/>
              </a:prstGeom>
              <a:gradFill flip="none" rotWithShape="1">
                <a:gsLst>
                  <a:gs pos="0">
                    <a:schemeClr val="bg1">
                      <a:lumMod val="85000"/>
                    </a:schemeClr>
                  </a:gs>
                  <a:gs pos="81000">
                    <a:schemeClr val="bg1">
                      <a:lumMod val="50000"/>
                    </a:schemeClr>
                  </a:gs>
                  <a:gs pos="100000">
                    <a:schemeClr val="tx1">
                      <a:lumMod val="50000"/>
                      <a:lumOff val="50000"/>
                    </a:schemeClr>
                  </a:gs>
                </a:gsLst>
                <a:lin ang="0" scaled="1"/>
                <a:tileRect/>
              </a:gra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93" name="Picture 92">
              <a:extLst>
                <a:ext uri="{FF2B5EF4-FFF2-40B4-BE49-F238E27FC236}">
                  <a16:creationId xmlns:a16="http://schemas.microsoft.com/office/drawing/2014/main" id="{7D4B74D7-11E7-8A6C-1043-87741BDC2160}"/>
                </a:ext>
              </a:extLst>
            </p:cNvPr>
            <p:cNvPicPr>
              <a:picLocks noChangeAspect="1"/>
            </p:cNvPicPr>
            <p:nvPr/>
          </p:nvPicPr>
          <p:blipFill>
            <a:blip r:embed="rId4"/>
            <a:stretch>
              <a:fillRect/>
            </a:stretch>
          </p:blipFill>
          <p:spPr>
            <a:xfrm>
              <a:off x="1019676" y="1703819"/>
              <a:ext cx="954324" cy="687051"/>
            </a:xfrm>
            <a:prstGeom prst="rect">
              <a:avLst/>
            </a:prstGeom>
          </p:spPr>
        </p:pic>
        <p:sp>
          <p:nvSpPr>
            <p:cNvPr id="95" name="TextBox 94">
              <a:extLst>
                <a:ext uri="{FF2B5EF4-FFF2-40B4-BE49-F238E27FC236}">
                  <a16:creationId xmlns:a16="http://schemas.microsoft.com/office/drawing/2014/main" id="{361B1573-9A31-B129-6CBA-33E59C6B20B6}"/>
                </a:ext>
              </a:extLst>
            </p:cNvPr>
            <p:cNvSpPr txBox="1"/>
            <p:nvPr/>
          </p:nvSpPr>
          <p:spPr>
            <a:xfrm>
              <a:off x="1811065" y="2447461"/>
              <a:ext cx="1236386" cy="400110"/>
            </a:xfrm>
            <a:prstGeom prst="rect">
              <a:avLst/>
            </a:prstGeom>
            <a:noFill/>
          </p:spPr>
          <p:txBody>
            <a:bodyPr wrap="square">
              <a:spAutoFit/>
            </a:bodyPr>
            <a:lstStyle/>
            <a:p>
              <a:r>
                <a:rPr lang="en-AU" sz="1000" b="0" i="0" u="none" strike="noStrike" baseline="0" dirty="0"/>
                <a:t>Raw LC-MS2 files</a:t>
              </a:r>
            </a:p>
            <a:p>
              <a:r>
                <a:rPr lang="en-AU" sz="1000" b="0" i="0" u="none" strike="noStrike" baseline="0" dirty="0"/>
                <a:t>(</a:t>
              </a:r>
              <a:r>
                <a:rPr lang="en-AU" sz="1000" dirty="0"/>
                <a:t>.raw, .</a:t>
              </a:r>
              <a:r>
                <a:rPr lang="en-AU" sz="1000" dirty="0" err="1"/>
                <a:t>mzML</a:t>
              </a:r>
              <a:r>
                <a:rPr lang="en-AU" sz="1000" dirty="0"/>
                <a:t>, </a:t>
              </a:r>
              <a:r>
                <a:rPr lang="en-AU" sz="1000" b="0" i="0" u="none" strike="noStrike" baseline="0" dirty="0"/>
                <a:t>.d)</a:t>
              </a:r>
              <a:endParaRPr lang="en-AU" sz="1000" dirty="0"/>
            </a:p>
          </p:txBody>
        </p:sp>
        <p:grpSp>
          <p:nvGrpSpPr>
            <p:cNvPr id="228" name="Group 227">
              <a:extLst>
                <a:ext uri="{FF2B5EF4-FFF2-40B4-BE49-F238E27FC236}">
                  <a16:creationId xmlns:a16="http://schemas.microsoft.com/office/drawing/2014/main" id="{7DF50482-EF1B-36AA-7406-BCAAE7F7ECC1}"/>
                </a:ext>
              </a:extLst>
            </p:cNvPr>
            <p:cNvGrpSpPr/>
            <p:nvPr/>
          </p:nvGrpSpPr>
          <p:grpSpPr>
            <a:xfrm>
              <a:off x="2075864" y="1764679"/>
              <a:ext cx="931824" cy="531516"/>
              <a:chOff x="5326154" y="481132"/>
              <a:chExt cx="931824" cy="531516"/>
            </a:xfrm>
          </p:grpSpPr>
          <p:pic>
            <p:nvPicPr>
              <p:cNvPr id="96" name="Picture 95">
                <a:extLst>
                  <a:ext uri="{FF2B5EF4-FFF2-40B4-BE49-F238E27FC236}">
                    <a16:creationId xmlns:a16="http://schemas.microsoft.com/office/drawing/2014/main" id="{EEF1F064-A964-47C1-7C1B-7DBF227F5398}"/>
                  </a:ext>
                </a:extLst>
              </p:cNvPr>
              <p:cNvPicPr>
                <a:picLocks noChangeAspect="1"/>
              </p:cNvPicPr>
              <p:nvPr/>
            </p:nvPicPr>
            <p:blipFill>
              <a:blip r:embed="rId5">
                <a:clrChange>
                  <a:clrFrom>
                    <a:srgbClr val="FFFFFF"/>
                  </a:clrFrom>
                  <a:clrTo>
                    <a:srgbClr val="FFFFFF">
                      <a:alpha val="0"/>
                    </a:srgbClr>
                  </a:clrTo>
                </a:clrChange>
              </a:blip>
              <a:srcRect l="6899" t="6082" r="1684" b="32244"/>
              <a:stretch>
                <a:fillRect/>
              </a:stretch>
            </p:blipFill>
            <p:spPr>
              <a:xfrm>
                <a:off x="5414265" y="705966"/>
                <a:ext cx="755603" cy="306682"/>
              </a:xfrm>
              <a:prstGeom prst="rect">
                <a:avLst/>
              </a:prstGeom>
            </p:spPr>
          </p:pic>
          <p:pic>
            <p:nvPicPr>
              <p:cNvPr id="97" name="Picture 96">
                <a:extLst>
                  <a:ext uri="{FF2B5EF4-FFF2-40B4-BE49-F238E27FC236}">
                    <a16:creationId xmlns:a16="http://schemas.microsoft.com/office/drawing/2014/main" id="{2F471BAD-D65D-BCAE-3B68-0283943AC173}"/>
                  </a:ext>
                </a:extLst>
              </p:cNvPr>
              <p:cNvPicPr>
                <a:picLocks noChangeAspect="1"/>
              </p:cNvPicPr>
              <p:nvPr/>
            </p:nvPicPr>
            <p:blipFill>
              <a:blip r:embed="rId6"/>
              <a:stretch>
                <a:fillRect/>
              </a:stretch>
            </p:blipFill>
            <p:spPr>
              <a:xfrm>
                <a:off x="5326154" y="481132"/>
                <a:ext cx="931824" cy="213712"/>
              </a:xfrm>
              <a:prstGeom prst="rect">
                <a:avLst/>
              </a:prstGeom>
            </p:spPr>
          </p:pic>
        </p:grpSp>
        <p:sp>
          <p:nvSpPr>
            <p:cNvPr id="98" name="Arrow: Down 97">
              <a:extLst>
                <a:ext uri="{FF2B5EF4-FFF2-40B4-BE49-F238E27FC236}">
                  <a16:creationId xmlns:a16="http://schemas.microsoft.com/office/drawing/2014/main" id="{29E36A45-4272-B569-6058-E94BA3B9C809}"/>
                </a:ext>
              </a:extLst>
            </p:cNvPr>
            <p:cNvSpPr/>
            <p:nvPr/>
          </p:nvSpPr>
          <p:spPr>
            <a:xfrm>
              <a:off x="1178792" y="2999538"/>
              <a:ext cx="954324" cy="475584"/>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99" name="TextBox 98">
              <a:extLst>
                <a:ext uri="{FF2B5EF4-FFF2-40B4-BE49-F238E27FC236}">
                  <a16:creationId xmlns:a16="http://schemas.microsoft.com/office/drawing/2014/main" id="{ED8889F0-EA04-7A51-EC66-168389947941}"/>
                </a:ext>
              </a:extLst>
            </p:cNvPr>
            <p:cNvSpPr txBox="1"/>
            <p:nvPr/>
          </p:nvSpPr>
          <p:spPr>
            <a:xfrm>
              <a:off x="73087" y="3447943"/>
              <a:ext cx="3165734" cy="646331"/>
            </a:xfrm>
            <a:prstGeom prst="rect">
              <a:avLst/>
            </a:prstGeom>
            <a:noFill/>
          </p:spPr>
          <p:txBody>
            <a:bodyPr wrap="square" rtlCol="0">
              <a:spAutoFit/>
            </a:bodyPr>
            <a:lstStyle/>
            <a:p>
              <a:pPr algn="ctr"/>
              <a:r>
                <a:rPr lang="en-US" b="1" dirty="0">
                  <a:solidFill>
                    <a:srgbClr val="7030A0"/>
                  </a:solidFill>
                </a:rPr>
                <a:t>Proteome database search against IWGSC2.1</a:t>
              </a:r>
              <a:endParaRPr lang="en-AU" b="1" dirty="0">
                <a:solidFill>
                  <a:srgbClr val="7030A0"/>
                </a:solidFill>
              </a:endParaRPr>
            </a:p>
          </p:txBody>
        </p:sp>
        <p:sp>
          <p:nvSpPr>
            <p:cNvPr id="100" name="Arrow: Down 99">
              <a:extLst>
                <a:ext uri="{FF2B5EF4-FFF2-40B4-BE49-F238E27FC236}">
                  <a16:creationId xmlns:a16="http://schemas.microsoft.com/office/drawing/2014/main" id="{2DFE0EE4-1D45-9BA4-AB3A-02B1AA6B5D8B}"/>
                </a:ext>
              </a:extLst>
            </p:cNvPr>
            <p:cNvSpPr/>
            <p:nvPr/>
          </p:nvSpPr>
          <p:spPr>
            <a:xfrm>
              <a:off x="1178792" y="5082423"/>
              <a:ext cx="954324" cy="475584"/>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101" name="TextBox 100">
              <a:extLst>
                <a:ext uri="{FF2B5EF4-FFF2-40B4-BE49-F238E27FC236}">
                  <a16:creationId xmlns:a16="http://schemas.microsoft.com/office/drawing/2014/main" id="{4D0D6A19-D81F-B3B8-D5EB-B616AA98CE2B}"/>
                </a:ext>
              </a:extLst>
            </p:cNvPr>
            <p:cNvSpPr txBox="1"/>
            <p:nvPr/>
          </p:nvSpPr>
          <p:spPr>
            <a:xfrm>
              <a:off x="291561" y="5553965"/>
              <a:ext cx="2692073" cy="646331"/>
            </a:xfrm>
            <a:prstGeom prst="rect">
              <a:avLst/>
            </a:prstGeom>
            <a:noFill/>
          </p:spPr>
          <p:txBody>
            <a:bodyPr wrap="square" rtlCol="0">
              <a:spAutoFit/>
            </a:bodyPr>
            <a:lstStyle/>
            <a:p>
              <a:pPr algn="ctr"/>
              <a:r>
                <a:rPr lang="en-US" b="1" dirty="0">
                  <a:solidFill>
                    <a:srgbClr val="7030A0"/>
                  </a:solidFill>
                </a:rPr>
                <a:t>GFF3-guided peptide projection &amp; validation</a:t>
              </a:r>
            </a:p>
          </p:txBody>
        </p:sp>
        <p:sp>
          <p:nvSpPr>
            <p:cNvPr id="161" name="TextBox 160">
              <a:extLst>
                <a:ext uri="{FF2B5EF4-FFF2-40B4-BE49-F238E27FC236}">
                  <a16:creationId xmlns:a16="http://schemas.microsoft.com/office/drawing/2014/main" id="{6F8E1A78-AAA6-4493-0A9E-84436F366CDA}"/>
                </a:ext>
              </a:extLst>
            </p:cNvPr>
            <p:cNvSpPr txBox="1"/>
            <p:nvPr/>
          </p:nvSpPr>
          <p:spPr>
            <a:xfrm>
              <a:off x="77513" y="7360178"/>
              <a:ext cx="3165734" cy="369332"/>
            </a:xfrm>
            <a:prstGeom prst="rect">
              <a:avLst/>
            </a:prstGeom>
            <a:noFill/>
          </p:spPr>
          <p:txBody>
            <a:bodyPr wrap="square" rtlCol="0">
              <a:spAutoFit/>
            </a:bodyPr>
            <a:lstStyle/>
            <a:p>
              <a:pPr algn="ctr"/>
              <a:r>
                <a:rPr lang="en-US" b="1" dirty="0">
                  <a:solidFill>
                    <a:srgbClr val="7030A0"/>
                  </a:solidFill>
                </a:rPr>
                <a:t>Apollo/</a:t>
              </a:r>
              <a:r>
                <a:rPr lang="en-US" b="1" dirty="0" err="1">
                  <a:solidFill>
                    <a:srgbClr val="7030A0"/>
                  </a:solidFill>
                </a:rPr>
                <a:t>JBrowse</a:t>
              </a:r>
              <a:r>
                <a:rPr lang="en-US" b="1" dirty="0">
                  <a:solidFill>
                    <a:srgbClr val="7030A0"/>
                  </a:solidFill>
                </a:rPr>
                <a:t> deployment</a:t>
              </a:r>
              <a:endParaRPr lang="en-AU" b="1" dirty="0">
                <a:solidFill>
                  <a:srgbClr val="7030A0"/>
                </a:solidFill>
              </a:endParaRPr>
            </a:p>
          </p:txBody>
        </p:sp>
        <p:sp>
          <p:nvSpPr>
            <p:cNvPr id="162" name="Arrow: Down 161">
              <a:extLst>
                <a:ext uri="{FF2B5EF4-FFF2-40B4-BE49-F238E27FC236}">
                  <a16:creationId xmlns:a16="http://schemas.microsoft.com/office/drawing/2014/main" id="{841E6DE8-D21A-B6CC-9D82-A7AFF5D5EA9F}"/>
                </a:ext>
              </a:extLst>
            </p:cNvPr>
            <p:cNvSpPr/>
            <p:nvPr/>
          </p:nvSpPr>
          <p:spPr>
            <a:xfrm>
              <a:off x="1178792" y="6890728"/>
              <a:ext cx="954324" cy="475584"/>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grpSp>
          <p:nvGrpSpPr>
            <p:cNvPr id="223" name="Group 222">
              <a:extLst>
                <a:ext uri="{FF2B5EF4-FFF2-40B4-BE49-F238E27FC236}">
                  <a16:creationId xmlns:a16="http://schemas.microsoft.com/office/drawing/2014/main" id="{D393F681-C738-2845-CA75-BEBE7090962F}"/>
                </a:ext>
              </a:extLst>
            </p:cNvPr>
            <p:cNvGrpSpPr/>
            <p:nvPr/>
          </p:nvGrpSpPr>
          <p:grpSpPr>
            <a:xfrm>
              <a:off x="520566" y="6198319"/>
              <a:ext cx="1560858" cy="585736"/>
              <a:chOff x="3992459" y="6370756"/>
              <a:chExt cx="2218414" cy="723090"/>
            </a:xfrm>
          </p:grpSpPr>
          <p:cxnSp>
            <p:nvCxnSpPr>
              <p:cNvPr id="171" name="Straight Connector 170">
                <a:extLst>
                  <a:ext uri="{FF2B5EF4-FFF2-40B4-BE49-F238E27FC236}">
                    <a16:creationId xmlns:a16="http://schemas.microsoft.com/office/drawing/2014/main" id="{18F088AF-0BD6-D205-5A65-F1FA811A78CF}"/>
                  </a:ext>
                </a:extLst>
              </p:cNvPr>
              <p:cNvCxnSpPr/>
              <p:nvPr/>
            </p:nvCxnSpPr>
            <p:spPr>
              <a:xfrm>
                <a:off x="4082619" y="6639507"/>
                <a:ext cx="1986754" cy="0"/>
              </a:xfrm>
              <a:prstGeom prst="line">
                <a:avLst/>
              </a:prstGeom>
            </p:spPr>
            <p:style>
              <a:lnRef idx="2">
                <a:schemeClr val="dk1"/>
              </a:lnRef>
              <a:fillRef idx="0">
                <a:schemeClr val="dk1"/>
              </a:fillRef>
              <a:effectRef idx="1">
                <a:schemeClr val="dk1"/>
              </a:effectRef>
              <a:fontRef idx="minor">
                <a:schemeClr val="tx1"/>
              </a:fontRef>
            </p:style>
          </p:cxnSp>
          <p:sp>
            <p:nvSpPr>
              <p:cNvPr id="172" name="TextBox 171">
                <a:extLst>
                  <a:ext uri="{FF2B5EF4-FFF2-40B4-BE49-F238E27FC236}">
                    <a16:creationId xmlns:a16="http://schemas.microsoft.com/office/drawing/2014/main" id="{8F682CAF-998A-2E82-CD53-98250FDDE864}"/>
                  </a:ext>
                </a:extLst>
              </p:cNvPr>
              <p:cNvSpPr txBox="1"/>
              <p:nvPr/>
            </p:nvSpPr>
            <p:spPr>
              <a:xfrm>
                <a:off x="4382987" y="6515466"/>
                <a:ext cx="588260" cy="151980"/>
              </a:xfrm>
              <a:prstGeom prst="rect">
                <a:avLst/>
              </a:prstGeom>
              <a:solidFill>
                <a:srgbClr val="FF3399"/>
              </a:solidFill>
              <a:ln>
                <a:noFill/>
              </a:ln>
            </p:spPr>
            <p:txBody>
              <a:bodyPr wrap="none" tIns="0" bIns="0" rtlCol="0" anchor="ctr" anchorCtr="0">
                <a:spAutoFit/>
              </a:bodyPr>
              <a:lstStyle/>
              <a:p>
                <a:pPr algn="ctr"/>
                <a:r>
                  <a:rPr lang="en-US" sz="800" b="1" dirty="0">
                    <a:solidFill>
                      <a:schemeClr val="bg1"/>
                    </a:solidFill>
                  </a:rPr>
                  <a:t>Exon</a:t>
                </a:r>
                <a:endParaRPr lang="en-AU" sz="800" b="1" dirty="0">
                  <a:solidFill>
                    <a:schemeClr val="bg1"/>
                  </a:solidFill>
                </a:endParaRPr>
              </a:p>
            </p:txBody>
          </p:sp>
          <p:sp>
            <p:nvSpPr>
              <p:cNvPr id="173" name="TextBox 172">
                <a:extLst>
                  <a:ext uri="{FF2B5EF4-FFF2-40B4-BE49-F238E27FC236}">
                    <a16:creationId xmlns:a16="http://schemas.microsoft.com/office/drawing/2014/main" id="{1BB66B9B-C22D-5505-EFB9-9EAC982F1D0C}"/>
                  </a:ext>
                </a:extLst>
              </p:cNvPr>
              <p:cNvSpPr txBox="1"/>
              <p:nvPr/>
            </p:nvSpPr>
            <p:spPr>
              <a:xfrm>
                <a:off x="5379351" y="6509784"/>
                <a:ext cx="588260" cy="151980"/>
              </a:xfrm>
              <a:prstGeom prst="rect">
                <a:avLst/>
              </a:prstGeom>
              <a:solidFill>
                <a:srgbClr val="FF3399"/>
              </a:solidFill>
            </p:spPr>
            <p:txBody>
              <a:bodyPr wrap="none" tIns="0" bIns="0" rtlCol="0" anchor="ctr" anchorCtr="0">
                <a:spAutoFit/>
              </a:bodyPr>
              <a:lstStyle/>
              <a:p>
                <a:pPr algn="ctr"/>
                <a:r>
                  <a:rPr lang="en-US" sz="800" b="1" dirty="0">
                    <a:solidFill>
                      <a:schemeClr val="bg1"/>
                    </a:solidFill>
                  </a:rPr>
                  <a:t>Exon</a:t>
                </a:r>
                <a:endParaRPr lang="en-AU" sz="800" b="1" dirty="0">
                  <a:solidFill>
                    <a:schemeClr val="bg1"/>
                  </a:solidFill>
                </a:endParaRPr>
              </a:p>
            </p:txBody>
          </p:sp>
          <p:grpSp>
            <p:nvGrpSpPr>
              <p:cNvPr id="174" name="Group 173">
                <a:extLst>
                  <a:ext uri="{FF2B5EF4-FFF2-40B4-BE49-F238E27FC236}">
                    <a16:creationId xmlns:a16="http://schemas.microsoft.com/office/drawing/2014/main" id="{3EA759FE-D547-A73B-9619-831EB60E9483}"/>
                  </a:ext>
                </a:extLst>
              </p:cNvPr>
              <p:cNvGrpSpPr/>
              <p:nvPr/>
            </p:nvGrpSpPr>
            <p:grpSpPr>
              <a:xfrm>
                <a:off x="4153331" y="6510155"/>
                <a:ext cx="196725" cy="123671"/>
                <a:chOff x="9747869" y="4416410"/>
                <a:chExt cx="370485" cy="210674"/>
              </a:xfrm>
            </p:grpSpPr>
            <p:cxnSp>
              <p:nvCxnSpPr>
                <p:cNvPr id="175" name="Straight Arrow Connector 174">
                  <a:extLst>
                    <a:ext uri="{FF2B5EF4-FFF2-40B4-BE49-F238E27FC236}">
                      <a16:creationId xmlns:a16="http://schemas.microsoft.com/office/drawing/2014/main" id="{1797C629-3201-45AD-D9CA-5F588791E93A}"/>
                    </a:ext>
                  </a:extLst>
                </p:cNvPr>
                <p:cNvCxnSpPr/>
                <p:nvPr/>
              </p:nvCxnSpPr>
              <p:spPr>
                <a:xfrm>
                  <a:off x="9747869" y="4439332"/>
                  <a:ext cx="370485" cy="0"/>
                </a:xfrm>
                <a:prstGeom prst="straightConnector1">
                  <a:avLst/>
                </a:prstGeom>
                <a:ln w="19050">
                  <a:solidFill>
                    <a:srgbClr val="3F007E"/>
                  </a:solidFill>
                  <a:tailEnd type="triangle"/>
                </a:ln>
              </p:spPr>
              <p:style>
                <a:lnRef idx="2">
                  <a:schemeClr val="accent1"/>
                </a:lnRef>
                <a:fillRef idx="0">
                  <a:schemeClr val="accent1"/>
                </a:fillRef>
                <a:effectRef idx="1">
                  <a:schemeClr val="accent1"/>
                </a:effectRef>
                <a:fontRef idx="minor">
                  <a:schemeClr val="tx1"/>
                </a:fontRef>
              </p:style>
            </p:cxnSp>
            <p:cxnSp>
              <p:nvCxnSpPr>
                <p:cNvPr id="176" name="Straight Connector 175">
                  <a:extLst>
                    <a:ext uri="{FF2B5EF4-FFF2-40B4-BE49-F238E27FC236}">
                      <a16:creationId xmlns:a16="http://schemas.microsoft.com/office/drawing/2014/main" id="{27F99BBB-3740-9BB9-1228-3611A0CEF77B}"/>
                    </a:ext>
                  </a:extLst>
                </p:cNvPr>
                <p:cNvCxnSpPr/>
                <p:nvPr/>
              </p:nvCxnSpPr>
              <p:spPr>
                <a:xfrm>
                  <a:off x="9758545" y="4416410"/>
                  <a:ext cx="0" cy="210674"/>
                </a:xfrm>
                <a:prstGeom prst="line">
                  <a:avLst/>
                </a:prstGeom>
                <a:ln w="19050">
                  <a:solidFill>
                    <a:srgbClr val="3F007E"/>
                  </a:solidFill>
                </a:ln>
              </p:spPr>
              <p:style>
                <a:lnRef idx="2">
                  <a:schemeClr val="accent1"/>
                </a:lnRef>
                <a:fillRef idx="0">
                  <a:schemeClr val="accent1"/>
                </a:fillRef>
                <a:effectRef idx="1">
                  <a:schemeClr val="accent1"/>
                </a:effectRef>
                <a:fontRef idx="minor">
                  <a:schemeClr val="tx1"/>
                </a:fontRef>
              </p:style>
            </p:cxnSp>
          </p:grpSp>
          <p:sp>
            <p:nvSpPr>
              <p:cNvPr id="177" name="TextBox 176">
                <a:extLst>
                  <a:ext uri="{FF2B5EF4-FFF2-40B4-BE49-F238E27FC236}">
                    <a16:creationId xmlns:a16="http://schemas.microsoft.com/office/drawing/2014/main" id="{10EF4CE4-B97B-7B52-1FC9-DC30381CD103}"/>
                  </a:ext>
                </a:extLst>
              </p:cNvPr>
              <p:cNvSpPr txBox="1"/>
              <p:nvPr/>
            </p:nvSpPr>
            <p:spPr>
              <a:xfrm>
                <a:off x="4862790" y="6431401"/>
                <a:ext cx="631548" cy="265965"/>
              </a:xfrm>
              <a:prstGeom prst="rect">
                <a:avLst/>
              </a:prstGeom>
              <a:noFill/>
            </p:spPr>
            <p:txBody>
              <a:bodyPr wrap="none" rtlCol="0">
                <a:spAutoFit/>
              </a:bodyPr>
              <a:lstStyle/>
              <a:p>
                <a:r>
                  <a:rPr lang="en-US" sz="800" dirty="0"/>
                  <a:t>intron</a:t>
                </a:r>
                <a:endParaRPr lang="en-AU" sz="800" dirty="0"/>
              </a:p>
            </p:txBody>
          </p:sp>
          <p:cxnSp>
            <p:nvCxnSpPr>
              <p:cNvPr id="178" name="Straight Connector 177">
                <a:extLst>
                  <a:ext uri="{FF2B5EF4-FFF2-40B4-BE49-F238E27FC236}">
                    <a16:creationId xmlns:a16="http://schemas.microsoft.com/office/drawing/2014/main" id="{8412388A-4308-9CAF-1E98-CA3DECD5537B}"/>
                  </a:ext>
                </a:extLst>
              </p:cNvPr>
              <p:cNvCxnSpPr>
                <a:cxnSpLocks/>
              </p:cNvCxnSpPr>
              <p:nvPr/>
            </p:nvCxnSpPr>
            <p:spPr>
              <a:xfrm flipV="1">
                <a:off x="4458502" y="6756412"/>
                <a:ext cx="19868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673814F5-8437-DFEE-AF69-A6B072D42A50}"/>
                  </a:ext>
                </a:extLst>
              </p:cNvPr>
              <p:cNvCxnSpPr>
                <a:cxnSpLocks/>
              </p:cNvCxnSpPr>
              <p:nvPr/>
            </p:nvCxnSpPr>
            <p:spPr>
              <a:xfrm flipV="1">
                <a:off x="4746989" y="6735861"/>
                <a:ext cx="19868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81" name="Straight Connector 180">
                <a:extLst>
                  <a:ext uri="{FF2B5EF4-FFF2-40B4-BE49-F238E27FC236}">
                    <a16:creationId xmlns:a16="http://schemas.microsoft.com/office/drawing/2014/main" id="{BE231FB8-9137-91C9-0F08-5C87B10B4D31}"/>
                  </a:ext>
                </a:extLst>
              </p:cNvPr>
              <p:cNvCxnSpPr>
                <a:cxnSpLocks/>
              </p:cNvCxnSpPr>
              <p:nvPr/>
            </p:nvCxnSpPr>
            <p:spPr>
              <a:xfrm flipV="1">
                <a:off x="4746989" y="6971326"/>
                <a:ext cx="19868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BE6F658D-A66B-CAD6-0165-1C87767EF9CB}"/>
                  </a:ext>
                </a:extLst>
              </p:cNvPr>
              <p:cNvCxnSpPr>
                <a:cxnSpLocks/>
              </p:cNvCxnSpPr>
              <p:nvPr/>
            </p:nvCxnSpPr>
            <p:spPr>
              <a:xfrm rot="10800000" flipV="1">
                <a:off x="4447171" y="6907477"/>
                <a:ext cx="363679"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E4297ACD-7123-924F-F737-503F00D9403B}"/>
                  </a:ext>
                </a:extLst>
              </p:cNvPr>
              <p:cNvCxnSpPr>
                <a:cxnSpLocks/>
              </p:cNvCxnSpPr>
              <p:nvPr/>
            </p:nvCxnSpPr>
            <p:spPr>
              <a:xfrm rot="10800000" flipV="1">
                <a:off x="4581977" y="7035501"/>
                <a:ext cx="363679"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E15BCBC6-92B0-2277-6927-3AA4C371F5F3}"/>
                  </a:ext>
                </a:extLst>
              </p:cNvPr>
              <p:cNvCxnSpPr>
                <a:cxnSpLocks/>
              </p:cNvCxnSpPr>
              <p:nvPr/>
            </p:nvCxnSpPr>
            <p:spPr>
              <a:xfrm rot="10800000" flipV="1">
                <a:off x="5781102" y="6747920"/>
                <a:ext cx="16519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322811BD-1E1C-5D3E-021B-74FE422E1256}"/>
                  </a:ext>
                </a:extLst>
              </p:cNvPr>
              <p:cNvCxnSpPr>
                <a:cxnSpLocks/>
              </p:cNvCxnSpPr>
              <p:nvPr/>
            </p:nvCxnSpPr>
            <p:spPr>
              <a:xfrm rot="10800000" flipV="1">
                <a:off x="5458645" y="7045659"/>
                <a:ext cx="16519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20550337-5E23-88A8-D776-C279F69BFA92}"/>
                  </a:ext>
                </a:extLst>
              </p:cNvPr>
              <p:cNvCxnSpPr>
                <a:cxnSpLocks/>
              </p:cNvCxnSpPr>
              <p:nvPr/>
            </p:nvCxnSpPr>
            <p:spPr>
              <a:xfrm rot="10800000" flipV="1">
                <a:off x="5495154" y="6902366"/>
                <a:ext cx="16519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C773B9F9-80A3-408E-74A6-8E36B32C629C}"/>
                  </a:ext>
                </a:extLst>
              </p:cNvPr>
              <p:cNvCxnSpPr>
                <a:cxnSpLocks/>
              </p:cNvCxnSpPr>
              <p:nvPr/>
            </p:nvCxnSpPr>
            <p:spPr>
              <a:xfrm flipV="1">
                <a:off x="5458646" y="6745631"/>
                <a:ext cx="16519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914D8ECD-2A6E-5CEE-21D3-30EC8CA39A98}"/>
                  </a:ext>
                </a:extLst>
              </p:cNvPr>
              <p:cNvCxnSpPr>
                <a:cxnSpLocks/>
              </p:cNvCxnSpPr>
              <p:nvPr/>
            </p:nvCxnSpPr>
            <p:spPr>
              <a:xfrm flipV="1">
                <a:off x="5698506" y="7055775"/>
                <a:ext cx="165194"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62E8DC30-B9F5-AC11-AEA0-4C83082C2BBD}"/>
                  </a:ext>
                </a:extLst>
              </p:cNvPr>
              <p:cNvCxnSpPr>
                <a:cxnSpLocks/>
              </p:cNvCxnSpPr>
              <p:nvPr/>
            </p:nvCxnSpPr>
            <p:spPr>
              <a:xfrm rot="10800000" flipV="1">
                <a:off x="5449224" y="6974308"/>
                <a:ext cx="302377"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grpSp>
            <p:nvGrpSpPr>
              <p:cNvPr id="204" name="Group 203">
                <a:extLst>
                  <a:ext uri="{FF2B5EF4-FFF2-40B4-BE49-F238E27FC236}">
                    <a16:creationId xmlns:a16="http://schemas.microsoft.com/office/drawing/2014/main" id="{6BAA2679-2D31-D402-37CB-C444F335043F}"/>
                  </a:ext>
                </a:extLst>
              </p:cNvPr>
              <p:cNvGrpSpPr/>
              <p:nvPr/>
            </p:nvGrpSpPr>
            <p:grpSpPr>
              <a:xfrm>
                <a:off x="4620742" y="6820928"/>
                <a:ext cx="1117641" cy="6148"/>
                <a:chOff x="10392018" y="3485020"/>
                <a:chExt cx="1117641" cy="6148"/>
              </a:xfrm>
            </p:grpSpPr>
            <p:cxnSp>
              <p:nvCxnSpPr>
                <p:cNvPr id="205" name="Straight Connector 204">
                  <a:extLst>
                    <a:ext uri="{FF2B5EF4-FFF2-40B4-BE49-F238E27FC236}">
                      <a16:creationId xmlns:a16="http://schemas.microsoft.com/office/drawing/2014/main" id="{AC1BC94F-CDEE-E75B-1BB5-E8F6901953DA}"/>
                    </a:ext>
                  </a:extLst>
                </p:cNvPr>
                <p:cNvCxnSpPr>
                  <a:cxnSpLocks/>
                </p:cNvCxnSpPr>
                <p:nvPr/>
              </p:nvCxnSpPr>
              <p:spPr>
                <a:xfrm rot="10800000" flipV="1">
                  <a:off x="10392018" y="3491168"/>
                  <a:ext cx="363679"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206" name="Straight Connector 205">
                  <a:extLst>
                    <a:ext uri="{FF2B5EF4-FFF2-40B4-BE49-F238E27FC236}">
                      <a16:creationId xmlns:a16="http://schemas.microsoft.com/office/drawing/2014/main" id="{0ED2CD61-62AC-BBE6-BD0B-A46EE794476A}"/>
                    </a:ext>
                  </a:extLst>
                </p:cNvPr>
                <p:cNvCxnSpPr>
                  <a:cxnSpLocks/>
                </p:cNvCxnSpPr>
                <p:nvPr/>
              </p:nvCxnSpPr>
              <p:spPr>
                <a:xfrm rot="10800000" flipV="1">
                  <a:off x="11207282" y="3490075"/>
                  <a:ext cx="302377" cy="0"/>
                </a:xfrm>
                <a:prstGeom prst="line">
                  <a:avLst/>
                </a:prstGeom>
                <a:ln w="38100">
                  <a:solidFill>
                    <a:srgbClr val="FF3399"/>
                  </a:solidFill>
                </a:ln>
              </p:spPr>
              <p:style>
                <a:lnRef idx="2">
                  <a:schemeClr val="accent1"/>
                </a:lnRef>
                <a:fillRef idx="0">
                  <a:schemeClr val="accent1"/>
                </a:fillRef>
                <a:effectRef idx="1">
                  <a:schemeClr val="accent1"/>
                </a:effectRef>
                <a:fontRef idx="minor">
                  <a:schemeClr val="tx1"/>
                </a:fontRef>
              </p:style>
            </p:cxnSp>
            <p:cxnSp>
              <p:nvCxnSpPr>
                <p:cNvPr id="207" name="Straight Connector 206">
                  <a:extLst>
                    <a:ext uri="{FF2B5EF4-FFF2-40B4-BE49-F238E27FC236}">
                      <a16:creationId xmlns:a16="http://schemas.microsoft.com/office/drawing/2014/main" id="{426D56A1-D202-4B52-FEC8-7E8885BB57B8}"/>
                    </a:ext>
                  </a:extLst>
                </p:cNvPr>
                <p:cNvCxnSpPr>
                  <a:cxnSpLocks/>
                </p:cNvCxnSpPr>
                <p:nvPr/>
              </p:nvCxnSpPr>
              <p:spPr>
                <a:xfrm flipV="1">
                  <a:off x="10762835" y="3485020"/>
                  <a:ext cx="452088" cy="337"/>
                </a:xfrm>
                <a:prstGeom prst="line">
                  <a:avLst/>
                </a:prstGeom>
                <a:ln w="12700">
                  <a:solidFill>
                    <a:srgbClr val="FF3399"/>
                  </a:solidFill>
                  <a:prstDash val="dash"/>
                </a:ln>
              </p:spPr>
              <p:style>
                <a:lnRef idx="2">
                  <a:schemeClr val="accent1"/>
                </a:lnRef>
                <a:fillRef idx="0">
                  <a:schemeClr val="accent1"/>
                </a:fillRef>
                <a:effectRef idx="1">
                  <a:schemeClr val="accent1"/>
                </a:effectRef>
                <a:fontRef idx="minor">
                  <a:schemeClr val="tx1"/>
                </a:fontRef>
              </p:style>
            </p:cxnSp>
          </p:grpSp>
          <p:sp>
            <p:nvSpPr>
              <p:cNvPr id="211" name="Rectangle 210">
                <a:extLst>
                  <a:ext uri="{FF2B5EF4-FFF2-40B4-BE49-F238E27FC236}">
                    <a16:creationId xmlns:a16="http://schemas.microsoft.com/office/drawing/2014/main" id="{23F81297-D125-3B42-FC63-0E605B6BDB4B}"/>
                  </a:ext>
                </a:extLst>
              </p:cNvPr>
              <p:cNvSpPr/>
              <p:nvPr/>
            </p:nvSpPr>
            <p:spPr>
              <a:xfrm>
                <a:off x="3992459" y="6370756"/>
                <a:ext cx="2218414" cy="72309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800"/>
              </a:p>
            </p:txBody>
          </p:sp>
        </p:grpSp>
        <p:grpSp>
          <p:nvGrpSpPr>
            <p:cNvPr id="222" name="Group 221">
              <a:extLst>
                <a:ext uri="{FF2B5EF4-FFF2-40B4-BE49-F238E27FC236}">
                  <a16:creationId xmlns:a16="http://schemas.microsoft.com/office/drawing/2014/main" id="{85B14BFA-9141-8065-254D-545FE24FE84B}"/>
                </a:ext>
              </a:extLst>
            </p:cNvPr>
            <p:cNvGrpSpPr/>
            <p:nvPr/>
          </p:nvGrpSpPr>
          <p:grpSpPr>
            <a:xfrm>
              <a:off x="325689" y="4058933"/>
              <a:ext cx="1688229" cy="952495"/>
              <a:chOff x="3631570" y="4092432"/>
              <a:chExt cx="1688229" cy="952495"/>
            </a:xfrm>
          </p:grpSpPr>
          <p:pic>
            <p:nvPicPr>
              <p:cNvPr id="109" name="Picture 108">
                <a:extLst>
                  <a:ext uri="{FF2B5EF4-FFF2-40B4-BE49-F238E27FC236}">
                    <a16:creationId xmlns:a16="http://schemas.microsoft.com/office/drawing/2014/main" id="{B20A5F90-0695-068C-6E16-A5A022A6109B}"/>
                  </a:ext>
                </a:extLst>
              </p:cNvPr>
              <p:cNvPicPr>
                <a:picLocks noChangeAspect="1"/>
              </p:cNvPicPr>
              <p:nvPr/>
            </p:nvPicPr>
            <p:blipFill rotWithShape="1">
              <a:blip r:embed="rId7">
                <a:extLst>
                  <a:ext uri="{BEBA8EAE-BF5A-486C-A8C5-ECC9F3942E4B}">
                    <a14:imgProps xmlns:a14="http://schemas.microsoft.com/office/drawing/2010/main">
                      <a14:imgLayer r:embed="rId8">
                        <a14:imgEffect>
                          <a14:sharpenSoften amount="50000"/>
                        </a14:imgEffect>
                      </a14:imgLayer>
                    </a14:imgProps>
                  </a:ext>
                </a:extLst>
              </a:blip>
              <a:srcRect l="3854" t="1" b="1996"/>
              <a:stretch>
                <a:fillRect/>
              </a:stretch>
            </p:blipFill>
            <p:spPr>
              <a:xfrm>
                <a:off x="3733558" y="4564064"/>
                <a:ext cx="1553864" cy="385880"/>
              </a:xfrm>
              <a:prstGeom prst="rect">
                <a:avLst/>
              </a:prstGeom>
              <a:ln>
                <a:noFill/>
              </a:ln>
            </p:spPr>
          </p:pic>
          <p:pic>
            <p:nvPicPr>
              <p:cNvPr id="110" name="Picture 109">
                <a:extLst>
                  <a:ext uri="{FF2B5EF4-FFF2-40B4-BE49-F238E27FC236}">
                    <a16:creationId xmlns:a16="http://schemas.microsoft.com/office/drawing/2014/main" id="{47D0A022-7384-F3B4-3F8F-60C0BF3B4E41}"/>
                  </a:ext>
                </a:extLst>
              </p:cNvPr>
              <p:cNvPicPr>
                <a:picLocks noChangeAspect="1"/>
              </p:cNvPicPr>
              <p:nvPr/>
            </p:nvPicPr>
            <p:blipFill rotWithShape="1">
              <a:blip r:embed="rId9">
                <a:biLevel thresh="50000"/>
              </a:blip>
              <a:srcRect t="41546"/>
              <a:stretch/>
            </p:blipFill>
            <p:spPr>
              <a:xfrm>
                <a:off x="3733558" y="4286136"/>
                <a:ext cx="1553864" cy="202683"/>
              </a:xfrm>
              <a:prstGeom prst="rect">
                <a:avLst/>
              </a:prstGeom>
            </p:spPr>
          </p:pic>
          <p:sp>
            <p:nvSpPr>
              <p:cNvPr id="111" name="TextBox 110">
                <a:extLst>
                  <a:ext uri="{FF2B5EF4-FFF2-40B4-BE49-F238E27FC236}">
                    <a16:creationId xmlns:a16="http://schemas.microsoft.com/office/drawing/2014/main" id="{07943F8C-19F9-9FF3-E429-7167D9D5FA26}"/>
                  </a:ext>
                </a:extLst>
              </p:cNvPr>
              <p:cNvSpPr txBox="1"/>
              <p:nvPr/>
            </p:nvSpPr>
            <p:spPr>
              <a:xfrm>
                <a:off x="3733558" y="4092432"/>
                <a:ext cx="673582" cy="184666"/>
              </a:xfrm>
              <a:prstGeom prst="rect">
                <a:avLst/>
              </a:prstGeom>
              <a:noFill/>
            </p:spPr>
            <p:txBody>
              <a:bodyPr wrap="none" rtlCol="0">
                <a:spAutoFit/>
              </a:bodyPr>
              <a:lstStyle/>
              <a:p>
                <a:r>
                  <a:rPr lang="en-US" sz="600" b="1" dirty="0"/>
                  <a:t>LC separation</a:t>
                </a:r>
                <a:endParaRPr lang="en-AU" sz="600" b="1" dirty="0"/>
              </a:p>
            </p:txBody>
          </p:sp>
          <p:sp>
            <p:nvSpPr>
              <p:cNvPr id="112" name="TextBox 111">
                <a:extLst>
                  <a:ext uri="{FF2B5EF4-FFF2-40B4-BE49-F238E27FC236}">
                    <a16:creationId xmlns:a16="http://schemas.microsoft.com/office/drawing/2014/main" id="{12991551-C8F0-E366-C988-3D249E816DA3}"/>
                  </a:ext>
                </a:extLst>
              </p:cNvPr>
              <p:cNvSpPr txBox="1"/>
              <p:nvPr/>
            </p:nvSpPr>
            <p:spPr>
              <a:xfrm>
                <a:off x="3733558" y="4460022"/>
                <a:ext cx="697627" cy="184666"/>
              </a:xfrm>
              <a:prstGeom prst="rect">
                <a:avLst/>
              </a:prstGeom>
              <a:noFill/>
            </p:spPr>
            <p:txBody>
              <a:bodyPr wrap="none" rtlCol="0">
                <a:spAutoFit/>
              </a:bodyPr>
              <a:lstStyle/>
              <a:p>
                <a:r>
                  <a:rPr lang="en-US" sz="600" b="1" dirty="0"/>
                  <a:t>MS2 Spectrum</a:t>
                </a:r>
                <a:endParaRPr lang="en-AU" sz="600" b="1" dirty="0"/>
              </a:p>
            </p:txBody>
          </p:sp>
          <p:sp>
            <p:nvSpPr>
              <p:cNvPr id="113" name="TextBox 112">
                <a:extLst>
                  <a:ext uri="{FF2B5EF4-FFF2-40B4-BE49-F238E27FC236}">
                    <a16:creationId xmlns:a16="http://schemas.microsoft.com/office/drawing/2014/main" id="{F7F4E4D8-CEB0-8750-A323-29EFA7666379}"/>
                  </a:ext>
                </a:extLst>
              </p:cNvPr>
              <p:cNvSpPr txBox="1"/>
              <p:nvPr/>
            </p:nvSpPr>
            <p:spPr>
              <a:xfrm rot="16200000">
                <a:off x="3531543" y="4278476"/>
                <a:ext cx="338554" cy="138499"/>
              </a:xfrm>
              <a:prstGeom prst="rect">
                <a:avLst/>
              </a:prstGeom>
              <a:noFill/>
            </p:spPr>
            <p:txBody>
              <a:bodyPr wrap="none" rtlCol="0">
                <a:spAutoFit/>
              </a:bodyPr>
              <a:lstStyle/>
              <a:p>
                <a:r>
                  <a:rPr lang="en-US" sz="300" b="1" dirty="0"/>
                  <a:t>Intensity</a:t>
                </a:r>
                <a:endParaRPr lang="en-AU" sz="800" b="1" dirty="0"/>
              </a:p>
            </p:txBody>
          </p:sp>
          <p:sp>
            <p:nvSpPr>
              <p:cNvPr id="106" name="Rectangle 105">
                <a:extLst>
                  <a:ext uri="{FF2B5EF4-FFF2-40B4-BE49-F238E27FC236}">
                    <a16:creationId xmlns:a16="http://schemas.microsoft.com/office/drawing/2014/main" id="{A8622269-7CB9-3D93-133D-6F6D27628719}"/>
                  </a:ext>
                </a:extLst>
              </p:cNvPr>
              <p:cNvSpPr/>
              <p:nvPr/>
            </p:nvSpPr>
            <p:spPr>
              <a:xfrm>
                <a:off x="3668081" y="4119672"/>
                <a:ext cx="1651718" cy="885118"/>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7" name="Straight Connector 106">
                <a:extLst>
                  <a:ext uri="{FF2B5EF4-FFF2-40B4-BE49-F238E27FC236}">
                    <a16:creationId xmlns:a16="http://schemas.microsoft.com/office/drawing/2014/main" id="{2C02C9B1-AD67-510C-7BD7-5FAB5CE00D86}"/>
                  </a:ext>
                </a:extLst>
              </p:cNvPr>
              <p:cNvCxnSpPr>
                <a:cxnSpLocks/>
              </p:cNvCxnSpPr>
              <p:nvPr/>
            </p:nvCxnSpPr>
            <p:spPr>
              <a:xfrm>
                <a:off x="3668081" y="4490373"/>
                <a:ext cx="1651718" cy="0"/>
              </a:xfrm>
              <a:prstGeom prst="line">
                <a:avLst/>
              </a:prstGeom>
              <a:ln w="9525"/>
            </p:spPr>
            <p:style>
              <a:lnRef idx="2">
                <a:schemeClr val="dk1"/>
              </a:lnRef>
              <a:fillRef idx="0">
                <a:schemeClr val="dk1"/>
              </a:fillRef>
              <a:effectRef idx="1">
                <a:schemeClr val="dk1"/>
              </a:effectRef>
              <a:fontRef idx="minor">
                <a:schemeClr val="tx1"/>
              </a:fontRef>
            </p:style>
          </p:cxnSp>
          <p:cxnSp>
            <p:nvCxnSpPr>
              <p:cNvPr id="108" name="Straight Arrow Connector 107">
                <a:extLst>
                  <a:ext uri="{FF2B5EF4-FFF2-40B4-BE49-F238E27FC236}">
                    <a16:creationId xmlns:a16="http://schemas.microsoft.com/office/drawing/2014/main" id="{D2826CC2-3C74-294E-DACA-65B440B18A7F}"/>
                  </a:ext>
                </a:extLst>
              </p:cNvPr>
              <p:cNvCxnSpPr>
                <a:cxnSpLocks/>
              </p:cNvCxnSpPr>
              <p:nvPr/>
            </p:nvCxnSpPr>
            <p:spPr>
              <a:xfrm>
                <a:off x="4201146" y="4244006"/>
                <a:ext cx="0" cy="101600"/>
              </a:xfrm>
              <a:prstGeom prst="straightConnector1">
                <a:avLst/>
              </a:prstGeom>
              <a:ln w="12700">
                <a:tailEnd type="triangle" w="sm" len="sm"/>
              </a:ln>
            </p:spPr>
            <p:style>
              <a:lnRef idx="2">
                <a:schemeClr val="accent2"/>
              </a:lnRef>
              <a:fillRef idx="0">
                <a:schemeClr val="accent2"/>
              </a:fillRef>
              <a:effectRef idx="1">
                <a:schemeClr val="accent2"/>
              </a:effectRef>
              <a:fontRef idx="minor">
                <a:schemeClr val="tx1"/>
              </a:fontRef>
            </p:style>
          </p:cxnSp>
          <p:sp>
            <p:nvSpPr>
              <p:cNvPr id="104" name="TextBox 103">
                <a:extLst>
                  <a:ext uri="{FF2B5EF4-FFF2-40B4-BE49-F238E27FC236}">
                    <a16:creationId xmlns:a16="http://schemas.microsoft.com/office/drawing/2014/main" id="{DA70D8D3-B4AE-4F2A-6933-9934664AE571}"/>
                  </a:ext>
                </a:extLst>
              </p:cNvPr>
              <p:cNvSpPr txBox="1"/>
              <p:nvPr/>
            </p:nvSpPr>
            <p:spPr>
              <a:xfrm>
                <a:off x="4436382" y="4906428"/>
                <a:ext cx="290464" cy="138499"/>
              </a:xfrm>
              <a:prstGeom prst="rect">
                <a:avLst/>
              </a:prstGeom>
              <a:noFill/>
            </p:spPr>
            <p:txBody>
              <a:bodyPr wrap="square" rtlCol="0">
                <a:spAutoFit/>
              </a:bodyPr>
              <a:lstStyle/>
              <a:p>
                <a:r>
                  <a:rPr lang="en-US" sz="300" dirty="0"/>
                  <a:t>m/z</a:t>
                </a:r>
                <a:endParaRPr lang="en-AU" sz="300" dirty="0"/>
              </a:p>
            </p:txBody>
          </p:sp>
          <p:sp>
            <p:nvSpPr>
              <p:cNvPr id="117" name="TextBox 116">
                <a:extLst>
                  <a:ext uri="{FF2B5EF4-FFF2-40B4-BE49-F238E27FC236}">
                    <a16:creationId xmlns:a16="http://schemas.microsoft.com/office/drawing/2014/main" id="{82567BEA-E6FD-2444-C7B3-0D3D60A64ECC}"/>
                  </a:ext>
                </a:extLst>
              </p:cNvPr>
              <p:cNvSpPr txBox="1"/>
              <p:nvPr/>
            </p:nvSpPr>
            <p:spPr>
              <a:xfrm>
                <a:off x="3756334" y="4599304"/>
                <a:ext cx="614159" cy="169277"/>
              </a:xfrm>
              <a:prstGeom prst="rect">
                <a:avLst/>
              </a:prstGeom>
              <a:noFill/>
            </p:spPr>
            <p:txBody>
              <a:bodyPr wrap="square">
                <a:spAutoFit/>
              </a:bodyPr>
              <a:lstStyle/>
              <a:p>
                <a:r>
                  <a:rPr lang="en-AU" sz="500" dirty="0">
                    <a:solidFill>
                      <a:srgbClr val="E97132"/>
                    </a:solidFill>
                  </a:rPr>
                  <a:t>TEPNAIISGMVR</a:t>
                </a:r>
              </a:p>
            </p:txBody>
          </p:sp>
          <p:sp>
            <p:nvSpPr>
              <p:cNvPr id="221" name="TextBox 220">
                <a:extLst>
                  <a:ext uri="{FF2B5EF4-FFF2-40B4-BE49-F238E27FC236}">
                    <a16:creationId xmlns:a16="http://schemas.microsoft.com/office/drawing/2014/main" id="{95D1003C-05A6-B41C-5A09-0F5D2101844C}"/>
                  </a:ext>
                </a:extLst>
              </p:cNvPr>
              <p:cNvSpPr txBox="1"/>
              <p:nvPr/>
            </p:nvSpPr>
            <p:spPr>
              <a:xfrm rot="16200000">
                <a:off x="3531544" y="4706044"/>
                <a:ext cx="338554" cy="138499"/>
              </a:xfrm>
              <a:prstGeom prst="rect">
                <a:avLst/>
              </a:prstGeom>
              <a:noFill/>
            </p:spPr>
            <p:txBody>
              <a:bodyPr wrap="none" rtlCol="0">
                <a:spAutoFit/>
              </a:bodyPr>
              <a:lstStyle/>
              <a:p>
                <a:r>
                  <a:rPr lang="en-US" sz="300" b="1" dirty="0"/>
                  <a:t>Intensity</a:t>
                </a:r>
                <a:endParaRPr lang="en-AU" sz="800" b="1" dirty="0"/>
              </a:p>
            </p:txBody>
          </p:sp>
        </p:grpSp>
        <p:sp>
          <p:nvSpPr>
            <p:cNvPr id="226" name="Rectangle: Rounded Corners 225">
              <a:extLst>
                <a:ext uri="{FF2B5EF4-FFF2-40B4-BE49-F238E27FC236}">
                  <a16:creationId xmlns:a16="http://schemas.microsoft.com/office/drawing/2014/main" id="{CE5E737A-8B05-0703-2473-BD9B95D57108}"/>
                </a:ext>
              </a:extLst>
            </p:cNvPr>
            <p:cNvSpPr/>
            <p:nvPr/>
          </p:nvSpPr>
          <p:spPr>
            <a:xfrm>
              <a:off x="55369" y="595761"/>
              <a:ext cx="3323482" cy="8869786"/>
            </a:xfrm>
            <a:prstGeom prst="roundRect">
              <a:avLst>
                <a:gd name="adj" fmla="val 4994"/>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36" name="Graphic 235" descr="Document outline">
              <a:extLst>
                <a:ext uri="{FF2B5EF4-FFF2-40B4-BE49-F238E27FC236}">
                  <a16:creationId xmlns:a16="http://schemas.microsoft.com/office/drawing/2014/main" id="{2B8075F6-52CF-E1AF-1F80-38DE9E76E98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41819" y="2416694"/>
              <a:ext cx="444525" cy="444525"/>
            </a:xfrm>
            <a:prstGeom prst="rect">
              <a:avLst/>
            </a:prstGeom>
          </p:spPr>
        </p:pic>
        <p:sp>
          <p:nvSpPr>
            <p:cNvPr id="255" name="TextBox 254">
              <a:extLst>
                <a:ext uri="{FF2B5EF4-FFF2-40B4-BE49-F238E27FC236}">
                  <a16:creationId xmlns:a16="http://schemas.microsoft.com/office/drawing/2014/main" id="{87866E54-B0CC-6DFC-EF0A-00641817245F}"/>
                </a:ext>
              </a:extLst>
            </p:cNvPr>
            <p:cNvSpPr txBox="1"/>
            <p:nvPr/>
          </p:nvSpPr>
          <p:spPr>
            <a:xfrm>
              <a:off x="444550" y="619774"/>
              <a:ext cx="2806979" cy="584775"/>
            </a:xfrm>
            <a:prstGeom prst="rect">
              <a:avLst/>
            </a:prstGeom>
            <a:noFill/>
          </p:spPr>
          <p:txBody>
            <a:bodyPr wrap="square" rtlCol="0">
              <a:spAutoFit/>
            </a:bodyPr>
            <a:lstStyle/>
            <a:p>
              <a:pPr algn="ctr"/>
              <a:r>
                <a:rPr lang="en-AU" sz="1600" b="1" dirty="0">
                  <a:solidFill>
                    <a:schemeClr val="bg1"/>
                  </a:solidFill>
                </a:rPr>
                <a:t>Annotation-aware genomic coordinate reconstruction</a:t>
              </a:r>
            </a:p>
          </p:txBody>
        </p:sp>
        <p:grpSp>
          <p:nvGrpSpPr>
            <p:cNvPr id="267" name="Group 266">
              <a:extLst>
                <a:ext uri="{FF2B5EF4-FFF2-40B4-BE49-F238E27FC236}">
                  <a16:creationId xmlns:a16="http://schemas.microsoft.com/office/drawing/2014/main" id="{D26FF7F8-D493-0A88-E407-870063C7AEA3}"/>
                </a:ext>
              </a:extLst>
            </p:cNvPr>
            <p:cNvGrpSpPr/>
            <p:nvPr/>
          </p:nvGrpSpPr>
          <p:grpSpPr>
            <a:xfrm>
              <a:off x="168686" y="7744027"/>
              <a:ext cx="1444334" cy="192598"/>
              <a:chOff x="214398" y="5628811"/>
              <a:chExt cx="1726479" cy="245465"/>
            </a:xfrm>
          </p:grpSpPr>
          <p:pic>
            <p:nvPicPr>
              <p:cNvPr id="268" name="Picture 267">
                <a:extLst>
                  <a:ext uri="{FF2B5EF4-FFF2-40B4-BE49-F238E27FC236}">
                    <a16:creationId xmlns:a16="http://schemas.microsoft.com/office/drawing/2014/main" id="{14750726-6DFF-DE1F-4D45-0646DFD9F1F3}"/>
                  </a:ext>
                </a:extLst>
              </p:cNvPr>
              <p:cNvPicPr>
                <a:picLocks noChangeAspect="1"/>
              </p:cNvPicPr>
              <p:nvPr/>
            </p:nvPicPr>
            <p:blipFill>
              <a:blip r:embed="rId11"/>
              <a:stretch>
                <a:fillRect/>
              </a:stretch>
            </p:blipFill>
            <p:spPr>
              <a:xfrm>
                <a:off x="1076074" y="5671949"/>
                <a:ext cx="864803" cy="201925"/>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pic>
            <p:nvPicPr>
              <p:cNvPr id="269" name="Picture 268">
                <a:extLst>
                  <a:ext uri="{FF2B5EF4-FFF2-40B4-BE49-F238E27FC236}">
                    <a16:creationId xmlns:a16="http://schemas.microsoft.com/office/drawing/2014/main" id="{3C7C25EF-4CE0-4B6B-3758-6F13DAE43B56}"/>
                  </a:ext>
                </a:extLst>
              </p:cNvPr>
              <p:cNvPicPr>
                <a:picLocks noChangeAspect="1"/>
              </p:cNvPicPr>
              <p:nvPr/>
            </p:nvPicPr>
            <p:blipFill rotWithShape="1">
              <a:blip r:embed="rId12">
                <a:clrChange>
                  <a:clrFrom>
                    <a:srgbClr val="FFFFFF"/>
                  </a:clrFrom>
                  <a:clrTo>
                    <a:srgbClr val="FFFFFF">
                      <a:alpha val="0"/>
                    </a:srgbClr>
                  </a:clrTo>
                </a:clrChange>
              </a:blip>
              <a:srcRect l="4761" t="21239" r="5636" b="26413"/>
              <a:stretch/>
            </p:blipFill>
            <p:spPr>
              <a:xfrm>
                <a:off x="214398" y="5628811"/>
                <a:ext cx="836682" cy="245465"/>
              </a:xfrm>
              <a:prstGeom prst="rect">
                <a:avLst/>
              </a:prstGeom>
            </p:spPr>
          </p:pic>
        </p:grpSp>
        <p:sp>
          <p:nvSpPr>
            <p:cNvPr id="271" name="TextBox 270">
              <a:extLst>
                <a:ext uri="{FF2B5EF4-FFF2-40B4-BE49-F238E27FC236}">
                  <a16:creationId xmlns:a16="http://schemas.microsoft.com/office/drawing/2014/main" id="{FAC84126-58BA-6010-EF4B-72E812993D75}"/>
                </a:ext>
              </a:extLst>
            </p:cNvPr>
            <p:cNvSpPr txBox="1"/>
            <p:nvPr/>
          </p:nvSpPr>
          <p:spPr>
            <a:xfrm>
              <a:off x="1604205" y="7725815"/>
              <a:ext cx="1793023" cy="253916"/>
            </a:xfrm>
            <a:prstGeom prst="rect">
              <a:avLst/>
            </a:prstGeom>
            <a:noFill/>
          </p:spPr>
          <p:txBody>
            <a:bodyPr wrap="square">
              <a:spAutoFit/>
            </a:bodyPr>
            <a:lstStyle/>
            <a:p>
              <a:r>
                <a:rPr lang="en-AU" sz="1050" b="0" i="0" u="none" strike="noStrike" baseline="0" dirty="0"/>
                <a:t>Track upload (.bed6/bed12)</a:t>
              </a:r>
              <a:endParaRPr lang="en-AU" sz="1050" dirty="0"/>
            </a:p>
          </p:txBody>
        </p:sp>
        <p:pic>
          <p:nvPicPr>
            <p:cNvPr id="3" name="Picture 2">
              <a:extLst>
                <a:ext uri="{FF2B5EF4-FFF2-40B4-BE49-F238E27FC236}">
                  <a16:creationId xmlns:a16="http://schemas.microsoft.com/office/drawing/2014/main" id="{62ADB53B-61C0-6F10-76B1-528E8C2A440E}"/>
                </a:ext>
              </a:extLst>
            </p:cNvPr>
            <p:cNvPicPr>
              <a:picLocks noChangeAspect="1"/>
            </p:cNvPicPr>
            <p:nvPr/>
          </p:nvPicPr>
          <p:blipFill>
            <a:blip r:embed="rId13"/>
            <a:srcRect l="11505" r="24786" b="496"/>
            <a:stretch>
              <a:fillRect/>
            </a:stretch>
          </p:blipFill>
          <p:spPr>
            <a:xfrm>
              <a:off x="192304" y="8004244"/>
              <a:ext cx="3062146" cy="1365843"/>
            </a:xfrm>
            <a:prstGeom prst="rect">
              <a:avLst/>
            </a:prstGeom>
            <a:ln>
              <a:solidFill>
                <a:schemeClr val="tx1"/>
              </a:solidFill>
            </a:ln>
          </p:spPr>
        </p:pic>
      </p:grpSp>
    </p:spTree>
    <p:extLst>
      <p:ext uri="{BB962C8B-B14F-4D97-AF65-F5344CB8AC3E}">
        <p14:creationId xmlns:p14="http://schemas.microsoft.com/office/powerpoint/2010/main" val="1440679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BACA-0178-D5EF-FA61-FEE4860C00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A48A36-2CC8-6B51-C68E-C01F2A320079}"/>
              </a:ext>
            </a:extLst>
          </p:cNvPr>
          <p:cNvSpPr txBox="1"/>
          <p:nvPr/>
        </p:nvSpPr>
        <p:spPr>
          <a:xfrm>
            <a:off x="1" y="0"/>
            <a:ext cx="6858000" cy="400110"/>
          </a:xfrm>
          <a:prstGeom prst="rect">
            <a:avLst/>
          </a:prstGeom>
          <a:noFill/>
        </p:spPr>
        <p:txBody>
          <a:bodyPr wrap="square" rtlCol="0">
            <a:spAutoFit/>
          </a:bodyPr>
          <a:lstStyle/>
          <a:p>
            <a:r>
              <a:rPr lang="en-US" sz="1000" b="1" dirty="0"/>
              <a:t>Figure 2: Genome-wide distribution of projected peptide evidence across wheat chromosomes. </a:t>
            </a:r>
            <a:r>
              <a:rPr lang="en-US" sz="1000" dirty="0"/>
              <a:t>Violin plot showing genomic coordinate distributions of HC and LC peptide projections for each chromosome. </a:t>
            </a:r>
            <a:endParaRPr lang="en-AU" sz="1000" dirty="0"/>
          </a:p>
        </p:txBody>
      </p:sp>
      <p:sp>
        <p:nvSpPr>
          <p:cNvPr id="3" name="Rectangle 2">
            <a:extLst>
              <a:ext uri="{FF2B5EF4-FFF2-40B4-BE49-F238E27FC236}">
                <a16:creationId xmlns:a16="http://schemas.microsoft.com/office/drawing/2014/main" id="{D46F79B1-80F6-2858-76D6-68A8EB1F731A}"/>
              </a:ext>
            </a:extLst>
          </p:cNvPr>
          <p:cNvSpPr/>
          <p:nvPr/>
        </p:nvSpPr>
        <p:spPr>
          <a:xfrm>
            <a:off x="2347252" y="657359"/>
            <a:ext cx="2599899" cy="1422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3E0C6695-23C6-8BFC-D457-13218AC7DEC1}"/>
              </a:ext>
            </a:extLst>
          </p:cNvPr>
          <p:cNvGrpSpPr/>
          <p:nvPr/>
        </p:nvGrpSpPr>
        <p:grpSpPr>
          <a:xfrm>
            <a:off x="0" y="521619"/>
            <a:ext cx="6858000" cy="2974918"/>
            <a:chOff x="0" y="521619"/>
            <a:chExt cx="6858000" cy="2974918"/>
          </a:xfrm>
        </p:grpSpPr>
        <p:pic>
          <p:nvPicPr>
            <p:cNvPr id="5" name="Picture 4">
              <a:extLst>
                <a:ext uri="{FF2B5EF4-FFF2-40B4-BE49-F238E27FC236}">
                  <a16:creationId xmlns:a16="http://schemas.microsoft.com/office/drawing/2014/main" id="{7D73E6BC-2E9A-E548-BB79-9194E7426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1619"/>
              <a:ext cx="6858000" cy="2974918"/>
            </a:xfrm>
            <a:prstGeom prst="rect">
              <a:avLst/>
            </a:prstGeom>
          </p:spPr>
        </p:pic>
        <p:sp>
          <p:nvSpPr>
            <p:cNvPr id="6" name="Rectangle 5">
              <a:extLst>
                <a:ext uri="{FF2B5EF4-FFF2-40B4-BE49-F238E27FC236}">
                  <a16:creationId xmlns:a16="http://schemas.microsoft.com/office/drawing/2014/main" id="{D9932073-CB36-7709-90A1-ED5B212D2040}"/>
                </a:ext>
              </a:extLst>
            </p:cNvPr>
            <p:cNvSpPr/>
            <p:nvPr/>
          </p:nvSpPr>
          <p:spPr>
            <a:xfrm rot="18934655">
              <a:off x="6261061" y="3048520"/>
              <a:ext cx="496663" cy="162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45501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28BA6-E94E-C494-804B-525C4E60FC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728370-719C-D7C3-F472-6DA22D9F763B}"/>
              </a:ext>
            </a:extLst>
          </p:cNvPr>
          <p:cNvSpPr txBox="1"/>
          <p:nvPr/>
        </p:nvSpPr>
        <p:spPr>
          <a:xfrm>
            <a:off x="1" y="1"/>
            <a:ext cx="6857999" cy="1015663"/>
          </a:xfrm>
          <a:prstGeom prst="rect">
            <a:avLst/>
          </a:prstGeom>
          <a:noFill/>
        </p:spPr>
        <p:txBody>
          <a:bodyPr wrap="square" rtlCol="0">
            <a:spAutoFit/>
          </a:bodyPr>
          <a:lstStyle/>
          <a:p>
            <a:r>
              <a:rPr lang="en-US" sz="1000" b="1" dirty="0"/>
              <a:t>Figure 3: </a:t>
            </a:r>
            <a:r>
              <a:rPr lang="en-AU" sz="1000" b="1" dirty="0"/>
              <a:t>Apollo </a:t>
            </a:r>
            <a:r>
              <a:rPr lang="en-AU" sz="1000" b="1" dirty="0" err="1"/>
              <a:t>JBrowse</a:t>
            </a:r>
            <a:r>
              <a:rPr lang="en-AU" sz="1000" b="1" dirty="0"/>
              <a:t> visualization of annotation-aware peptide projections along wheat gene models. </a:t>
            </a:r>
            <a:r>
              <a:rPr lang="en-AU" sz="1000" dirty="0"/>
              <a:t>(A) Validation of HC gene model TraesCS4A03G1080800.1 supported by extensive projected peptide evidence(Chr4A:709769974..709773595 ). (B) Peptide evidence supporting isoform-specific projections for TraesCS4A03G1074200.1 and TraesCS4A03G1074200.2 (Chr4A:706828843..706831892). (C) Peptide evidence supporting LC gene models TraesCS4A03G1082900LC.1 and TraesCS4A03G1083000LC.1 (Chr4A:710156743..710162562 ), suggesting potential promotion to HC status. </a:t>
            </a:r>
          </a:p>
        </p:txBody>
      </p:sp>
      <p:sp>
        <p:nvSpPr>
          <p:cNvPr id="4" name="TextBox 3">
            <a:extLst>
              <a:ext uri="{FF2B5EF4-FFF2-40B4-BE49-F238E27FC236}">
                <a16:creationId xmlns:a16="http://schemas.microsoft.com/office/drawing/2014/main" id="{9B27E093-8440-8E94-3646-1C46FCF32CF5}"/>
              </a:ext>
            </a:extLst>
          </p:cNvPr>
          <p:cNvSpPr txBox="1"/>
          <p:nvPr/>
        </p:nvSpPr>
        <p:spPr>
          <a:xfrm>
            <a:off x="7508922" y="765430"/>
            <a:ext cx="3459706" cy="2246769"/>
          </a:xfrm>
          <a:prstGeom prst="rect">
            <a:avLst/>
          </a:prstGeom>
          <a:noFill/>
        </p:spPr>
        <p:txBody>
          <a:bodyPr wrap="square">
            <a:spAutoFit/>
          </a:bodyPr>
          <a:lstStyle/>
          <a:p>
            <a:r>
              <a:rPr lang="en-AU" sz="1000" u="sng" dirty="0">
                <a:hlinkClick r:id="rId2"/>
              </a:rPr>
              <a:t>https://bread-wheat-um.genome.edu.au/</a:t>
            </a:r>
            <a:endParaRPr lang="en-AU" sz="1000" dirty="0"/>
          </a:p>
          <a:p>
            <a:r>
              <a:rPr lang="en-AU" sz="1000" dirty="0"/>
              <a:t>comtasr@yahoo.fr</a:t>
            </a:r>
          </a:p>
          <a:p>
            <a:r>
              <a:rPr lang="en-AU" sz="1000" dirty="0"/>
              <a:t>6natERaBkb6B</a:t>
            </a:r>
          </a:p>
          <a:p>
            <a:endParaRPr lang="en-AU" sz="1000" dirty="0"/>
          </a:p>
          <a:p>
            <a:r>
              <a:rPr lang="en-AU" sz="1000" dirty="0"/>
              <a:t>"style": {"</a:t>
            </a:r>
            <a:r>
              <a:rPr lang="en-AU" sz="1000" dirty="0" err="1"/>
              <a:t>color</a:t>
            </a:r>
            <a:r>
              <a:rPr lang="en-AU" sz="1000" dirty="0"/>
              <a:t>":"#FF3399"}</a:t>
            </a:r>
          </a:p>
          <a:p>
            <a:endParaRPr lang="en-AU" sz="1000" dirty="0"/>
          </a:p>
          <a:p>
            <a:pPr marL="342900" indent="-342900">
              <a:buAutoNum type="alphaLcPeriod"/>
            </a:pPr>
            <a:r>
              <a:rPr lang="en-AU" sz="1000" dirty="0"/>
              <a:t>Chr4A:709769974..709773595 (3.62 </a:t>
            </a:r>
            <a:r>
              <a:rPr lang="en-AU" sz="1000" dirty="0" err="1"/>
              <a:t>Kb</a:t>
            </a:r>
            <a:r>
              <a:rPr lang="en-AU" sz="1000" dirty="0"/>
              <a:t>)</a:t>
            </a:r>
          </a:p>
          <a:p>
            <a:pPr marL="342900" indent="-342900">
              <a:buAutoNum type="alphaLcPeriod"/>
            </a:pPr>
            <a:r>
              <a:rPr lang="en-AU" sz="1000" dirty="0"/>
              <a:t>Chr4A:709771972..709772129 (158 b)</a:t>
            </a:r>
          </a:p>
          <a:p>
            <a:pPr marL="342900" indent="-342900">
              <a:buFontTx/>
              <a:buAutoNum type="alphaLcPeriod"/>
            </a:pPr>
            <a:r>
              <a:rPr lang="en-AU" sz="1000" dirty="0"/>
              <a:t>Chr4A:706828843..706831892 (3.05 </a:t>
            </a:r>
            <a:r>
              <a:rPr lang="en-AU" sz="1000" dirty="0" err="1"/>
              <a:t>Kb</a:t>
            </a:r>
            <a:r>
              <a:rPr lang="en-AU" sz="1000" dirty="0"/>
              <a:t>)</a:t>
            </a:r>
          </a:p>
          <a:p>
            <a:pPr marL="342900" indent="-342900">
              <a:buAutoNum type="alphaLcPeriod"/>
            </a:pPr>
            <a:r>
              <a:rPr lang="en-AU" sz="1000" dirty="0"/>
              <a:t>Chr4A:710156743..710162562 (5.82 </a:t>
            </a:r>
            <a:r>
              <a:rPr lang="en-AU" sz="1000" dirty="0" err="1"/>
              <a:t>Kb</a:t>
            </a:r>
            <a:r>
              <a:rPr lang="en-AU" sz="1000" dirty="0"/>
              <a:t>)</a:t>
            </a:r>
          </a:p>
          <a:p>
            <a:pPr marL="342900" indent="-342900">
              <a:buAutoNum type="alphaLcPeriod"/>
            </a:pPr>
            <a:endParaRPr lang="en-AU" sz="1000" dirty="0"/>
          </a:p>
          <a:p>
            <a:pPr marL="342900" indent="-342900">
              <a:buAutoNum type="alphaLcPeriod"/>
            </a:pPr>
            <a:r>
              <a:rPr lang="en-AU" sz="1000" dirty="0"/>
              <a:t>Chr4A:704253293..704258230 (4.94 </a:t>
            </a:r>
            <a:r>
              <a:rPr lang="en-AU" sz="1000" dirty="0" err="1"/>
              <a:t>Kb</a:t>
            </a:r>
            <a:r>
              <a:rPr lang="en-AU" sz="1000" dirty="0"/>
              <a:t>) Chr4A:136720257..136722682 (2.43 </a:t>
            </a:r>
            <a:r>
              <a:rPr lang="en-AU" sz="1000" dirty="0" err="1"/>
              <a:t>Kb</a:t>
            </a:r>
            <a:endParaRPr lang="en-AU" sz="1000" dirty="0"/>
          </a:p>
          <a:p>
            <a:pPr marL="342900" indent="-342900">
              <a:buAutoNum type="alphaLcPeriod"/>
            </a:pPr>
            <a:endParaRPr lang="en-AU" sz="1000" dirty="0"/>
          </a:p>
        </p:txBody>
      </p:sp>
      <p:pic>
        <p:nvPicPr>
          <p:cNvPr id="46" name="Picture 45">
            <a:extLst>
              <a:ext uri="{FF2B5EF4-FFF2-40B4-BE49-F238E27FC236}">
                <a16:creationId xmlns:a16="http://schemas.microsoft.com/office/drawing/2014/main" id="{3327974B-69F8-A381-4D1C-4147F980D802}"/>
              </a:ext>
            </a:extLst>
          </p:cNvPr>
          <p:cNvPicPr>
            <a:picLocks noChangeAspect="1"/>
          </p:cNvPicPr>
          <p:nvPr/>
        </p:nvPicPr>
        <p:blipFill>
          <a:blip r:embed="rId3"/>
          <a:stretch>
            <a:fillRect/>
          </a:stretch>
        </p:blipFill>
        <p:spPr>
          <a:xfrm>
            <a:off x="7596959" y="3580338"/>
            <a:ext cx="4312012" cy="3439735"/>
          </a:xfrm>
          <a:prstGeom prst="rect">
            <a:avLst/>
          </a:prstGeom>
        </p:spPr>
      </p:pic>
      <p:sp>
        <p:nvSpPr>
          <p:cNvPr id="51" name="TextBox 50">
            <a:extLst>
              <a:ext uri="{FF2B5EF4-FFF2-40B4-BE49-F238E27FC236}">
                <a16:creationId xmlns:a16="http://schemas.microsoft.com/office/drawing/2014/main" id="{9486EE12-0F93-F16B-F368-9DE033E6CDDF}"/>
              </a:ext>
            </a:extLst>
          </p:cNvPr>
          <p:cNvSpPr txBox="1"/>
          <p:nvPr/>
        </p:nvSpPr>
        <p:spPr>
          <a:xfrm>
            <a:off x="6951283" y="3349505"/>
            <a:ext cx="453970" cy="461665"/>
          </a:xfrm>
          <a:prstGeom prst="rect">
            <a:avLst/>
          </a:prstGeom>
          <a:noFill/>
        </p:spPr>
        <p:txBody>
          <a:bodyPr wrap="none" rtlCol="0">
            <a:spAutoFit/>
          </a:bodyPr>
          <a:lstStyle/>
          <a:p>
            <a:r>
              <a:rPr lang="en-US" sz="2400" b="1" dirty="0"/>
              <a:t>E.</a:t>
            </a:r>
            <a:endParaRPr lang="en-AU" sz="2400" b="1" dirty="0"/>
          </a:p>
        </p:txBody>
      </p:sp>
      <p:grpSp>
        <p:nvGrpSpPr>
          <p:cNvPr id="35" name="Group 34">
            <a:extLst>
              <a:ext uri="{FF2B5EF4-FFF2-40B4-BE49-F238E27FC236}">
                <a16:creationId xmlns:a16="http://schemas.microsoft.com/office/drawing/2014/main" id="{7D31FF73-77F6-A104-3385-B1E64A9F41AC}"/>
              </a:ext>
            </a:extLst>
          </p:cNvPr>
          <p:cNvGrpSpPr/>
          <p:nvPr/>
        </p:nvGrpSpPr>
        <p:grpSpPr>
          <a:xfrm>
            <a:off x="7596960" y="7233030"/>
            <a:ext cx="4312012" cy="2359116"/>
            <a:chOff x="465110" y="4029456"/>
            <a:chExt cx="6021451" cy="4064174"/>
          </a:xfrm>
        </p:grpSpPr>
        <p:pic>
          <p:nvPicPr>
            <p:cNvPr id="19" name="Picture 18">
              <a:extLst>
                <a:ext uri="{FF2B5EF4-FFF2-40B4-BE49-F238E27FC236}">
                  <a16:creationId xmlns:a16="http://schemas.microsoft.com/office/drawing/2014/main" id="{F2AB1F6B-0916-E470-9241-B99AA888E494}"/>
                </a:ext>
              </a:extLst>
            </p:cNvPr>
            <p:cNvPicPr>
              <a:picLocks noChangeAspect="1"/>
            </p:cNvPicPr>
            <p:nvPr/>
          </p:nvPicPr>
          <p:blipFill>
            <a:blip r:embed="rId4"/>
            <a:stretch>
              <a:fillRect/>
            </a:stretch>
          </p:blipFill>
          <p:spPr>
            <a:xfrm>
              <a:off x="465110" y="4029456"/>
              <a:ext cx="6021451" cy="4064174"/>
            </a:xfrm>
            <a:prstGeom prst="rect">
              <a:avLst/>
            </a:prstGeom>
            <a:ln>
              <a:solidFill>
                <a:schemeClr val="tx1"/>
              </a:solidFill>
            </a:ln>
          </p:spPr>
        </p:pic>
        <p:sp>
          <p:nvSpPr>
            <p:cNvPr id="34" name="Rectangle 33">
              <a:extLst>
                <a:ext uri="{FF2B5EF4-FFF2-40B4-BE49-F238E27FC236}">
                  <a16:creationId xmlns:a16="http://schemas.microsoft.com/office/drawing/2014/main" id="{46B87AB2-F3C7-26C3-C7B8-F378BEBA861C}"/>
                </a:ext>
              </a:extLst>
            </p:cNvPr>
            <p:cNvSpPr/>
            <p:nvPr/>
          </p:nvSpPr>
          <p:spPr>
            <a:xfrm>
              <a:off x="1487169" y="5097040"/>
              <a:ext cx="321571" cy="632248"/>
            </a:xfrm>
            <a:prstGeom prst="rect">
              <a:avLst/>
            </a:prstGeom>
            <a:solidFill>
              <a:srgbClr val="FFFF00">
                <a:alpha val="14118"/>
              </a:srgb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5" name="Group 14">
            <a:extLst>
              <a:ext uri="{FF2B5EF4-FFF2-40B4-BE49-F238E27FC236}">
                <a16:creationId xmlns:a16="http://schemas.microsoft.com/office/drawing/2014/main" id="{444D23F2-A19F-AE57-02DF-8B8D30F69AD5}"/>
              </a:ext>
            </a:extLst>
          </p:cNvPr>
          <p:cNvGrpSpPr/>
          <p:nvPr/>
        </p:nvGrpSpPr>
        <p:grpSpPr>
          <a:xfrm>
            <a:off x="0" y="1000260"/>
            <a:ext cx="6473358" cy="7016818"/>
            <a:chOff x="0" y="1000260"/>
            <a:chExt cx="6473358" cy="7016818"/>
          </a:xfrm>
        </p:grpSpPr>
        <p:pic>
          <p:nvPicPr>
            <p:cNvPr id="6" name="Picture 5">
              <a:extLst>
                <a:ext uri="{FF2B5EF4-FFF2-40B4-BE49-F238E27FC236}">
                  <a16:creationId xmlns:a16="http://schemas.microsoft.com/office/drawing/2014/main" id="{12C2D77C-52EC-F78A-0FFE-DD2AD3B3AD6A}"/>
                </a:ext>
              </a:extLst>
            </p:cNvPr>
            <p:cNvPicPr>
              <a:picLocks noChangeAspect="1"/>
            </p:cNvPicPr>
            <p:nvPr/>
          </p:nvPicPr>
          <p:blipFill>
            <a:blip r:embed="rId5"/>
            <a:stretch>
              <a:fillRect/>
            </a:stretch>
          </p:blipFill>
          <p:spPr>
            <a:xfrm>
              <a:off x="452295" y="1065622"/>
              <a:ext cx="6021063" cy="2887098"/>
            </a:xfrm>
            <a:prstGeom prst="rect">
              <a:avLst/>
            </a:prstGeom>
            <a:ln>
              <a:solidFill>
                <a:schemeClr val="tx1"/>
              </a:solidFill>
            </a:ln>
          </p:spPr>
        </p:pic>
        <p:sp>
          <p:nvSpPr>
            <p:cNvPr id="7" name="TextBox 6">
              <a:extLst>
                <a:ext uri="{FF2B5EF4-FFF2-40B4-BE49-F238E27FC236}">
                  <a16:creationId xmlns:a16="http://schemas.microsoft.com/office/drawing/2014/main" id="{4DA84B5E-D5D2-D4DB-F024-DECFFEB9A1D8}"/>
                </a:ext>
              </a:extLst>
            </p:cNvPr>
            <p:cNvSpPr txBox="1"/>
            <p:nvPr/>
          </p:nvSpPr>
          <p:spPr>
            <a:xfrm>
              <a:off x="0" y="1000260"/>
              <a:ext cx="473528" cy="461665"/>
            </a:xfrm>
            <a:prstGeom prst="rect">
              <a:avLst/>
            </a:prstGeom>
            <a:noFill/>
          </p:spPr>
          <p:txBody>
            <a:bodyPr wrap="none" rtlCol="0">
              <a:spAutoFit/>
            </a:bodyPr>
            <a:lstStyle/>
            <a:p>
              <a:r>
                <a:rPr lang="en-US" sz="2400" b="1" dirty="0"/>
                <a:t>A.</a:t>
              </a:r>
              <a:endParaRPr lang="en-AU" sz="2400" b="1" dirty="0"/>
            </a:p>
          </p:txBody>
        </p:sp>
        <p:sp>
          <p:nvSpPr>
            <p:cNvPr id="8" name="TextBox 7">
              <a:extLst>
                <a:ext uri="{FF2B5EF4-FFF2-40B4-BE49-F238E27FC236}">
                  <a16:creationId xmlns:a16="http://schemas.microsoft.com/office/drawing/2014/main" id="{9F61E82E-49A0-42D9-B3CF-4A31A2BE6009}"/>
                </a:ext>
              </a:extLst>
            </p:cNvPr>
            <p:cNvSpPr txBox="1"/>
            <p:nvPr/>
          </p:nvSpPr>
          <p:spPr>
            <a:xfrm>
              <a:off x="0" y="3909801"/>
              <a:ext cx="465833" cy="461665"/>
            </a:xfrm>
            <a:prstGeom prst="rect">
              <a:avLst/>
            </a:prstGeom>
            <a:noFill/>
          </p:spPr>
          <p:txBody>
            <a:bodyPr wrap="none" rtlCol="0">
              <a:spAutoFit/>
            </a:bodyPr>
            <a:lstStyle/>
            <a:p>
              <a:r>
                <a:rPr lang="en-US" sz="2400" b="1" dirty="0"/>
                <a:t>B.</a:t>
              </a:r>
              <a:endParaRPr lang="en-AU" sz="2400" b="1" dirty="0"/>
            </a:p>
          </p:txBody>
        </p:sp>
        <p:sp>
          <p:nvSpPr>
            <p:cNvPr id="9" name="TextBox 8">
              <a:extLst>
                <a:ext uri="{FF2B5EF4-FFF2-40B4-BE49-F238E27FC236}">
                  <a16:creationId xmlns:a16="http://schemas.microsoft.com/office/drawing/2014/main" id="{84876D84-A23D-9C37-4407-14BC797405C2}"/>
                </a:ext>
              </a:extLst>
            </p:cNvPr>
            <p:cNvSpPr txBox="1"/>
            <p:nvPr/>
          </p:nvSpPr>
          <p:spPr>
            <a:xfrm>
              <a:off x="0" y="6060553"/>
              <a:ext cx="492186" cy="461665"/>
            </a:xfrm>
            <a:prstGeom prst="rect">
              <a:avLst/>
            </a:prstGeom>
            <a:noFill/>
          </p:spPr>
          <p:txBody>
            <a:bodyPr wrap="none" rtlCol="0">
              <a:spAutoFit/>
            </a:bodyPr>
            <a:lstStyle/>
            <a:p>
              <a:r>
                <a:rPr lang="en-US" sz="2400" b="1" dirty="0"/>
                <a:t>C.</a:t>
              </a:r>
              <a:endParaRPr lang="en-AU" sz="2400" b="1" dirty="0"/>
            </a:p>
          </p:txBody>
        </p:sp>
        <p:grpSp>
          <p:nvGrpSpPr>
            <p:cNvPr id="37" name="Group 36">
              <a:extLst>
                <a:ext uri="{FF2B5EF4-FFF2-40B4-BE49-F238E27FC236}">
                  <a16:creationId xmlns:a16="http://schemas.microsoft.com/office/drawing/2014/main" id="{6CA2B1C2-A943-D456-2BA1-6EFB4D41B7C6}"/>
                </a:ext>
              </a:extLst>
            </p:cNvPr>
            <p:cNvGrpSpPr/>
            <p:nvPr/>
          </p:nvGrpSpPr>
          <p:grpSpPr>
            <a:xfrm>
              <a:off x="578513" y="3074513"/>
              <a:ext cx="1001804" cy="771493"/>
              <a:chOff x="-1498663" y="3417081"/>
              <a:chExt cx="1001804" cy="771493"/>
            </a:xfrm>
          </p:grpSpPr>
          <p:sp>
            <p:nvSpPr>
              <p:cNvPr id="20" name="TextBox 19">
                <a:extLst>
                  <a:ext uri="{FF2B5EF4-FFF2-40B4-BE49-F238E27FC236}">
                    <a16:creationId xmlns:a16="http://schemas.microsoft.com/office/drawing/2014/main" id="{1E344627-9190-4FC4-75C9-4A776F976356}"/>
                  </a:ext>
                </a:extLst>
              </p:cNvPr>
              <p:cNvSpPr txBox="1"/>
              <p:nvPr/>
            </p:nvSpPr>
            <p:spPr>
              <a:xfrm>
                <a:off x="-1498663" y="3417081"/>
                <a:ext cx="1001804" cy="771493"/>
              </a:xfrm>
              <a:prstGeom prst="rect">
                <a:avLst/>
              </a:prstGeom>
              <a:solidFill>
                <a:schemeClr val="bg1"/>
              </a:solidFill>
              <a:ln>
                <a:solidFill>
                  <a:schemeClr val="tx1"/>
                </a:solidFill>
              </a:ln>
            </p:spPr>
            <p:txBody>
              <a:bodyPr wrap="none" lIns="72000" rtlCol="0">
                <a:spAutoFit/>
              </a:bodyPr>
              <a:lstStyle/>
              <a:p>
                <a:r>
                  <a:rPr lang="en-US" sz="600" b="1" u="sng" dirty="0"/>
                  <a:t>Track legend:</a:t>
                </a:r>
              </a:p>
              <a:p>
                <a:r>
                  <a:rPr lang="en-US" sz="600" dirty="0"/>
                  <a:t>       genomic sequence</a:t>
                </a:r>
              </a:p>
              <a:p>
                <a:r>
                  <a:rPr lang="en-US" sz="600" dirty="0">
                    <a:solidFill>
                      <a:srgbClr val="8080FF"/>
                    </a:solidFill>
                  </a:rPr>
                  <a:t>       </a:t>
                </a:r>
                <a:r>
                  <a:rPr lang="en-US" sz="600" dirty="0">
                    <a:solidFill>
                      <a:srgbClr val="FF8080"/>
                    </a:solidFill>
                  </a:rPr>
                  <a:t>HC gene exon frame 1</a:t>
                </a:r>
              </a:p>
              <a:p>
                <a:r>
                  <a:rPr lang="en-US" sz="600" dirty="0">
                    <a:solidFill>
                      <a:srgbClr val="8080FF"/>
                    </a:solidFill>
                  </a:rPr>
                  <a:t>       </a:t>
                </a:r>
                <a:r>
                  <a:rPr lang="en-US" sz="600" dirty="0">
                    <a:solidFill>
                      <a:srgbClr val="80FF80"/>
                    </a:solidFill>
                  </a:rPr>
                  <a:t>HC gene exon frame 2</a:t>
                </a:r>
              </a:p>
              <a:p>
                <a:r>
                  <a:rPr lang="en-US" sz="600" dirty="0">
                    <a:solidFill>
                      <a:srgbClr val="8080FF"/>
                    </a:solidFill>
                  </a:rPr>
                  <a:t>       HC gene exon frame 3</a:t>
                </a:r>
              </a:p>
              <a:p>
                <a:r>
                  <a:rPr lang="en-AU" sz="600" dirty="0">
                    <a:solidFill>
                      <a:srgbClr val="8080FF"/>
                    </a:solidFill>
                  </a:rPr>
                  <a:t>       </a:t>
                </a:r>
                <a:r>
                  <a:rPr lang="en-AU" sz="600" dirty="0"/>
                  <a:t>intron</a:t>
                </a:r>
              </a:p>
              <a:p>
                <a:pPr>
                  <a:lnSpc>
                    <a:spcPct val="150000"/>
                  </a:lnSpc>
                </a:pPr>
                <a:r>
                  <a:rPr lang="en-US" sz="600" dirty="0">
                    <a:solidFill>
                      <a:srgbClr val="DAA520"/>
                    </a:solidFill>
                  </a:rPr>
                  <a:t>       </a:t>
                </a:r>
                <a:r>
                  <a:rPr lang="en-US" sz="600" dirty="0">
                    <a:solidFill>
                      <a:srgbClr val="FF3399"/>
                    </a:solidFill>
                  </a:rPr>
                  <a:t>peptides (all tissues)</a:t>
                </a:r>
                <a:endParaRPr lang="en-AU" sz="600" dirty="0">
                  <a:solidFill>
                    <a:srgbClr val="FF3399"/>
                  </a:solidFill>
                </a:endParaRPr>
              </a:p>
            </p:txBody>
          </p:sp>
          <p:sp>
            <p:nvSpPr>
              <p:cNvPr id="22" name="Rectangle 21">
                <a:extLst>
                  <a:ext uri="{FF2B5EF4-FFF2-40B4-BE49-F238E27FC236}">
                    <a16:creationId xmlns:a16="http://schemas.microsoft.com/office/drawing/2014/main" id="{A0505E30-F6BA-CECE-5B12-6EDF4EF8062D}"/>
                  </a:ext>
                </a:extLst>
              </p:cNvPr>
              <p:cNvSpPr/>
              <p:nvPr/>
            </p:nvSpPr>
            <p:spPr>
              <a:xfrm>
                <a:off x="-1469472" y="3578629"/>
                <a:ext cx="108238" cy="35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sp>
            <p:nvSpPr>
              <p:cNvPr id="23" name="Rectangle 22">
                <a:extLst>
                  <a:ext uri="{FF2B5EF4-FFF2-40B4-BE49-F238E27FC236}">
                    <a16:creationId xmlns:a16="http://schemas.microsoft.com/office/drawing/2014/main" id="{BA605654-7121-0D67-8E18-03E16D8C1430}"/>
                  </a:ext>
                </a:extLst>
              </p:cNvPr>
              <p:cNvSpPr/>
              <p:nvPr/>
            </p:nvSpPr>
            <p:spPr>
              <a:xfrm>
                <a:off x="-1469472" y="3671682"/>
                <a:ext cx="108238" cy="35677"/>
              </a:xfrm>
              <a:prstGeom prst="rect">
                <a:avLst/>
              </a:prstGeom>
              <a:solidFill>
                <a:srgbClr val="FF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cxnSp>
            <p:nvCxnSpPr>
              <p:cNvPr id="24" name="Straight Connector 23">
                <a:extLst>
                  <a:ext uri="{FF2B5EF4-FFF2-40B4-BE49-F238E27FC236}">
                    <a16:creationId xmlns:a16="http://schemas.microsoft.com/office/drawing/2014/main" id="{A75EF84B-95B2-B754-7948-5480D873514F}"/>
                  </a:ext>
                </a:extLst>
              </p:cNvPr>
              <p:cNvCxnSpPr>
                <a:cxnSpLocks/>
              </p:cNvCxnSpPr>
              <p:nvPr/>
            </p:nvCxnSpPr>
            <p:spPr>
              <a:xfrm>
                <a:off x="-1465656" y="3959630"/>
                <a:ext cx="100604" cy="0"/>
              </a:xfrm>
              <a:prstGeom prst="line">
                <a:avLst/>
              </a:prstGeom>
              <a:ln w="9525">
                <a:prstDash val="solid"/>
              </a:ln>
            </p:spPr>
            <p:style>
              <a:lnRef idx="2">
                <a:schemeClr val="dk1"/>
              </a:lnRef>
              <a:fillRef idx="0">
                <a:schemeClr val="dk1"/>
              </a:fillRef>
              <a:effectRef idx="1">
                <a:schemeClr val="dk1"/>
              </a:effectRef>
              <a:fontRef idx="minor">
                <a:schemeClr val="tx1"/>
              </a:fontRef>
            </p:style>
          </p:cxnSp>
          <p:sp>
            <p:nvSpPr>
              <p:cNvPr id="25" name="Rectangle 24">
                <a:extLst>
                  <a:ext uri="{FF2B5EF4-FFF2-40B4-BE49-F238E27FC236}">
                    <a16:creationId xmlns:a16="http://schemas.microsoft.com/office/drawing/2014/main" id="{B7A48040-B381-4581-7216-EE29742C34A2}"/>
                  </a:ext>
                </a:extLst>
              </p:cNvPr>
              <p:cNvSpPr/>
              <p:nvPr/>
            </p:nvSpPr>
            <p:spPr>
              <a:xfrm>
                <a:off x="-1471381" y="3761585"/>
                <a:ext cx="112054" cy="35677"/>
              </a:xfrm>
              <a:prstGeom prst="rect">
                <a:avLst/>
              </a:prstGeom>
              <a:solidFill>
                <a:srgbClr val="80FF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sp>
            <p:nvSpPr>
              <p:cNvPr id="26" name="Rectangle 25">
                <a:extLst>
                  <a:ext uri="{FF2B5EF4-FFF2-40B4-BE49-F238E27FC236}">
                    <a16:creationId xmlns:a16="http://schemas.microsoft.com/office/drawing/2014/main" id="{DB4D67C6-52AB-D962-585D-3175AB0FBBBD}"/>
                  </a:ext>
                </a:extLst>
              </p:cNvPr>
              <p:cNvSpPr/>
              <p:nvPr/>
            </p:nvSpPr>
            <p:spPr>
              <a:xfrm>
                <a:off x="-1469472" y="3850403"/>
                <a:ext cx="108238" cy="35677"/>
              </a:xfrm>
              <a:prstGeom prst="rect">
                <a:avLst/>
              </a:prstGeom>
              <a:solidFill>
                <a:srgbClr val="8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grpSp>
            <p:nvGrpSpPr>
              <p:cNvPr id="36" name="Group 35">
                <a:extLst>
                  <a:ext uri="{FF2B5EF4-FFF2-40B4-BE49-F238E27FC236}">
                    <a16:creationId xmlns:a16="http://schemas.microsoft.com/office/drawing/2014/main" id="{A29D2A52-960D-38FF-D7F9-632299999A4F}"/>
                  </a:ext>
                </a:extLst>
              </p:cNvPr>
              <p:cNvGrpSpPr/>
              <p:nvPr/>
            </p:nvGrpSpPr>
            <p:grpSpPr>
              <a:xfrm>
                <a:off x="-1469291" y="4027004"/>
                <a:ext cx="136471" cy="111542"/>
                <a:chOff x="-1469291" y="4027004"/>
                <a:chExt cx="136471" cy="111542"/>
              </a:xfrm>
            </p:grpSpPr>
            <p:sp>
              <p:nvSpPr>
                <p:cNvPr id="29" name="Rectangle 28">
                  <a:extLst>
                    <a:ext uri="{FF2B5EF4-FFF2-40B4-BE49-F238E27FC236}">
                      <a16:creationId xmlns:a16="http://schemas.microsoft.com/office/drawing/2014/main" id="{2D339FD5-2160-20E1-B04E-D8C0CDB31E4D}"/>
                    </a:ext>
                  </a:extLst>
                </p:cNvPr>
                <p:cNvSpPr/>
                <p:nvPr/>
              </p:nvSpPr>
              <p:spPr>
                <a:xfrm>
                  <a:off x="-1458714" y="4027004"/>
                  <a:ext cx="108238" cy="29813"/>
                </a:xfrm>
                <a:prstGeom prst="rect">
                  <a:avLst/>
                </a:prstGeom>
                <a:solidFill>
                  <a:srgbClr val="FF33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sp>
              <p:nvSpPr>
                <p:cNvPr id="30" name="Rectangle 29">
                  <a:extLst>
                    <a:ext uri="{FF2B5EF4-FFF2-40B4-BE49-F238E27FC236}">
                      <a16:creationId xmlns:a16="http://schemas.microsoft.com/office/drawing/2014/main" id="{D76CD628-ADA3-D4D4-A9C0-0D1115FC7195}"/>
                    </a:ext>
                  </a:extLst>
                </p:cNvPr>
                <p:cNvSpPr/>
                <p:nvPr/>
              </p:nvSpPr>
              <p:spPr>
                <a:xfrm>
                  <a:off x="-1441058" y="4068718"/>
                  <a:ext cx="108238" cy="29813"/>
                </a:xfrm>
                <a:prstGeom prst="rect">
                  <a:avLst/>
                </a:prstGeom>
                <a:solidFill>
                  <a:srgbClr val="FF33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sp>
              <p:nvSpPr>
                <p:cNvPr id="31" name="Rectangle 30">
                  <a:extLst>
                    <a:ext uri="{FF2B5EF4-FFF2-40B4-BE49-F238E27FC236}">
                      <a16:creationId xmlns:a16="http://schemas.microsoft.com/office/drawing/2014/main" id="{DE9EA0A5-C5DC-FD62-F2BB-3493C75BDB52}"/>
                    </a:ext>
                  </a:extLst>
                </p:cNvPr>
                <p:cNvSpPr/>
                <p:nvPr/>
              </p:nvSpPr>
              <p:spPr>
                <a:xfrm>
                  <a:off x="-1469291" y="4108733"/>
                  <a:ext cx="108238" cy="29813"/>
                </a:xfrm>
                <a:prstGeom prst="rect">
                  <a:avLst/>
                </a:prstGeom>
                <a:solidFill>
                  <a:srgbClr val="FF33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AU" sz="1400"/>
                </a:p>
              </p:txBody>
            </p:sp>
          </p:grpSp>
        </p:grpSp>
        <p:pic>
          <p:nvPicPr>
            <p:cNvPr id="12" name="Picture 11">
              <a:extLst>
                <a:ext uri="{FF2B5EF4-FFF2-40B4-BE49-F238E27FC236}">
                  <a16:creationId xmlns:a16="http://schemas.microsoft.com/office/drawing/2014/main" id="{4B3BC755-CDD5-D837-C79E-3B7955BB4814}"/>
                </a:ext>
              </a:extLst>
            </p:cNvPr>
            <p:cNvPicPr>
              <a:picLocks noChangeAspect="1"/>
            </p:cNvPicPr>
            <p:nvPr/>
          </p:nvPicPr>
          <p:blipFill>
            <a:blip r:embed="rId6"/>
            <a:stretch>
              <a:fillRect/>
            </a:stretch>
          </p:blipFill>
          <p:spPr>
            <a:xfrm>
              <a:off x="452295" y="4035247"/>
              <a:ext cx="6021063" cy="2060874"/>
            </a:xfrm>
            <a:prstGeom prst="rect">
              <a:avLst/>
            </a:prstGeom>
            <a:ln>
              <a:solidFill>
                <a:schemeClr val="tx1"/>
              </a:solidFill>
            </a:ln>
          </p:spPr>
        </p:pic>
        <p:pic>
          <p:nvPicPr>
            <p:cNvPr id="14" name="Picture 13">
              <a:extLst>
                <a:ext uri="{FF2B5EF4-FFF2-40B4-BE49-F238E27FC236}">
                  <a16:creationId xmlns:a16="http://schemas.microsoft.com/office/drawing/2014/main" id="{0664CFC2-9AD8-7332-08DA-B9FF89B0313C}"/>
                </a:ext>
              </a:extLst>
            </p:cNvPr>
            <p:cNvPicPr>
              <a:picLocks noChangeAspect="1"/>
            </p:cNvPicPr>
            <p:nvPr/>
          </p:nvPicPr>
          <p:blipFill>
            <a:blip r:embed="rId7"/>
            <a:stretch>
              <a:fillRect/>
            </a:stretch>
          </p:blipFill>
          <p:spPr>
            <a:xfrm>
              <a:off x="452295" y="6178985"/>
              <a:ext cx="6021063" cy="1838093"/>
            </a:xfrm>
            <a:prstGeom prst="rect">
              <a:avLst/>
            </a:prstGeom>
            <a:ln>
              <a:solidFill>
                <a:schemeClr val="tx1"/>
              </a:solidFill>
            </a:ln>
          </p:spPr>
        </p:pic>
      </p:grpSp>
    </p:spTree>
    <p:extLst>
      <p:ext uri="{BB962C8B-B14F-4D97-AF65-F5344CB8AC3E}">
        <p14:creationId xmlns:p14="http://schemas.microsoft.com/office/powerpoint/2010/main" val="768090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99529A-8AB1-8F5D-89A3-41D15F73739B}"/>
              </a:ext>
            </a:extLst>
          </p:cNvPr>
          <p:cNvSpPr txBox="1"/>
          <p:nvPr/>
        </p:nvSpPr>
        <p:spPr>
          <a:xfrm>
            <a:off x="1" y="-23174"/>
            <a:ext cx="6858000" cy="646331"/>
          </a:xfrm>
          <a:prstGeom prst="rect">
            <a:avLst/>
          </a:prstGeom>
          <a:noFill/>
        </p:spPr>
        <p:txBody>
          <a:bodyPr wrap="square" rtlCol="0">
            <a:spAutoFit/>
          </a:bodyPr>
          <a:lstStyle/>
          <a:p>
            <a:r>
              <a:rPr lang="en-US" sz="600" b="1" dirty="0"/>
              <a:t>Supplementary Figure S1. </a:t>
            </a:r>
            <a:r>
              <a:rPr lang="en-US" sz="600" dirty="0"/>
              <a:t>Computational workflow of the genome-guided wheat </a:t>
            </a:r>
            <a:r>
              <a:rPr lang="en-US" sz="600" dirty="0" err="1"/>
              <a:t>proteogenomics</a:t>
            </a:r>
            <a:r>
              <a:rPr lang="en-US" sz="600" dirty="0"/>
              <a:t> approach devised in this study. Public LC–MS/MS datasets from PRIDE and </a:t>
            </a:r>
            <a:r>
              <a:rPr lang="en-US" sz="600" dirty="0" err="1"/>
              <a:t>MassIVE</a:t>
            </a:r>
            <a:r>
              <a:rPr lang="en-US" sz="600" dirty="0"/>
              <a:t> were retrieved and reprocessed against the IWGSC </a:t>
            </a:r>
            <a:r>
              <a:rPr lang="en-US" sz="600" dirty="0" err="1"/>
              <a:t>RefSeq</a:t>
            </a:r>
            <a:r>
              <a:rPr lang="en-US" sz="600" dirty="0"/>
              <a:t> v2.1 HC+LC wheat proteome database using </a:t>
            </a:r>
            <a:r>
              <a:rPr lang="en-US" sz="600" dirty="0" err="1"/>
              <a:t>FragPipe</a:t>
            </a:r>
            <a:r>
              <a:rPr lang="en-US" sz="600" dirty="0"/>
              <a:t>/</a:t>
            </a:r>
            <a:r>
              <a:rPr lang="en-US" sz="600" dirty="0" err="1"/>
              <a:t>MSFragger</a:t>
            </a:r>
            <a:r>
              <a:rPr lang="en-US" sz="600" dirty="0"/>
              <a:t>. GFF3 annotations were parsed to reconstruct protein–transcript–gene relationships and exon/CDS coordinates. Non-contaminant peptide evidence was integrated with GFF3-derived annotation frameworks and subjected to annotation-aware peptide projection, whereby peptide amino-acid coordinates were converted into exon-aware genomic coordinates and exported as BED6/BED12 tracks. Projection validation involved translation-based peptide reconstruction together with independent BED geometry, chromosome/strand, and protein-coordinate sanity checks. Final validated peptide tracks were used for genome-scale exploratory data analysis (EDA) and Apollo/</a:t>
            </a:r>
            <a:r>
              <a:rPr lang="en-US" sz="600" dirty="0" err="1"/>
              <a:t>JBrowse</a:t>
            </a:r>
            <a:r>
              <a:rPr lang="en-US" sz="600" dirty="0"/>
              <a:t> deployment. Detailed computational steps and Python code are provided in the accompanying </a:t>
            </a:r>
            <a:r>
              <a:rPr lang="en-US" sz="600" dirty="0" err="1"/>
              <a:t>Jupyter</a:t>
            </a:r>
            <a:r>
              <a:rPr lang="en-US" sz="600" dirty="0"/>
              <a:t> Notebook and GitHub repository, as well as Supplementary File S3.</a:t>
            </a:r>
            <a:endParaRPr lang="en-AU" sz="600" dirty="0"/>
          </a:p>
        </p:txBody>
      </p:sp>
      <p:grpSp>
        <p:nvGrpSpPr>
          <p:cNvPr id="5" name="Group 4">
            <a:extLst>
              <a:ext uri="{FF2B5EF4-FFF2-40B4-BE49-F238E27FC236}">
                <a16:creationId xmlns:a16="http://schemas.microsoft.com/office/drawing/2014/main" id="{BA665A7F-6F92-F7B0-4D5D-43F303E44E89}"/>
              </a:ext>
            </a:extLst>
          </p:cNvPr>
          <p:cNvGrpSpPr/>
          <p:nvPr/>
        </p:nvGrpSpPr>
        <p:grpSpPr>
          <a:xfrm>
            <a:off x="60330" y="632388"/>
            <a:ext cx="6735118" cy="9308030"/>
            <a:chOff x="46682" y="577796"/>
            <a:chExt cx="6735118" cy="9308030"/>
          </a:xfrm>
        </p:grpSpPr>
        <p:sp>
          <p:nvSpPr>
            <p:cNvPr id="6" name="TextBox 5">
              <a:extLst>
                <a:ext uri="{FF2B5EF4-FFF2-40B4-BE49-F238E27FC236}">
                  <a16:creationId xmlns:a16="http://schemas.microsoft.com/office/drawing/2014/main" id="{C09066C3-2F2B-2240-E4CA-1949B899C5B1}"/>
                </a:ext>
              </a:extLst>
            </p:cNvPr>
            <p:cNvSpPr txBox="1"/>
            <p:nvPr/>
          </p:nvSpPr>
          <p:spPr>
            <a:xfrm>
              <a:off x="133350" y="1083416"/>
              <a:ext cx="6581775" cy="8802410"/>
            </a:xfrm>
            <a:prstGeom prst="rect">
              <a:avLst/>
            </a:prstGeom>
            <a:noFill/>
          </p:spPr>
          <p:txBody>
            <a:bodyPr wrap="square">
              <a:spAutoFit/>
            </a:bodyPr>
            <a:lstStyle/>
            <a:p>
              <a:r>
                <a:rPr lang="en-AU" sz="1600" b="1" dirty="0">
                  <a:solidFill>
                    <a:srgbClr val="7030A0"/>
                  </a:solidFill>
                </a:rPr>
                <a:t>1. DATA RETRIEVAL + REFERENCE GENOME + PROTEOME SEARCH</a:t>
              </a:r>
            </a:p>
            <a:p>
              <a:r>
                <a:rPr lang="en-AU" sz="1000" i="1" dirty="0">
                  <a:solidFill>
                    <a:srgbClr val="FF3399"/>
                  </a:solidFill>
                </a:rPr>
                <a:t>Steps 1–4</a:t>
              </a:r>
            </a:p>
            <a:p>
              <a:r>
                <a:rPr lang="en-AU" sz="1000" dirty="0"/>
                <a:t>FTP download of raw LC–MS2 proteomic and GFF3 genomic files </a:t>
              </a:r>
              <a:r>
                <a:rPr lang="en-AU" sz="1000" dirty="0">
                  <a:solidFill>
                    <a:srgbClr val="E88502"/>
                  </a:solidFill>
                </a:rPr>
                <a:t>(</a:t>
              </a:r>
              <a:r>
                <a:rPr lang="en-AU" sz="1000" i="1" dirty="0">
                  <a:solidFill>
                    <a:srgbClr val="E88502"/>
                  </a:solidFill>
                </a:rPr>
                <a:t>Unix</a:t>
              </a:r>
              <a:r>
                <a:rPr lang="en-AU" sz="1000" dirty="0">
                  <a:solidFill>
                    <a:srgbClr val="E88502"/>
                  </a:solidFill>
                </a:rPr>
                <a:t>)</a:t>
              </a:r>
            </a:p>
            <a:p>
              <a:r>
                <a:rPr lang="en-AU" sz="1000" dirty="0"/>
                <a:t>Data conversion </a:t>
              </a:r>
              <a:r>
                <a:rPr lang="en-AU" sz="1000" dirty="0">
                  <a:solidFill>
                    <a:srgbClr val="E88502"/>
                  </a:solidFill>
                </a:rPr>
                <a:t>(</a:t>
              </a:r>
              <a:r>
                <a:rPr lang="en-AU" sz="1000" i="1" dirty="0" err="1">
                  <a:solidFill>
                    <a:srgbClr val="E88502"/>
                  </a:solidFill>
                </a:rPr>
                <a:t>ProteoWizard</a:t>
              </a:r>
              <a:r>
                <a:rPr lang="en-AU" sz="1000" i="1" dirty="0">
                  <a:solidFill>
                    <a:srgbClr val="E88502"/>
                  </a:solidFill>
                </a:rPr>
                <a:t> </a:t>
              </a:r>
              <a:r>
                <a:rPr lang="en-AU" sz="1000" i="1" dirty="0" err="1">
                  <a:solidFill>
                    <a:srgbClr val="E88502"/>
                  </a:solidFill>
                </a:rPr>
                <a:t>MSConvert</a:t>
              </a:r>
              <a:r>
                <a:rPr lang="en-AU" sz="1000" dirty="0">
                  <a:solidFill>
                    <a:srgbClr val="E88502"/>
                  </a:solidFill>
                </a:rPr>
                <a:t>)</a:t>
              </a:r>
            </a:p>
            <a:p>
              <a:r>
                <a:rPr lang="en-AU" sz="1000" dirty="0"/>
                <a:t>Protein database creation with decoy </a:t>
              </a:r>
              <a:r>
                <a:rPr lang="en-AU" sz="1000" i="1" dirty="0">
                  <a:solidFill>
                    <a:srgbClr val="E88502"/>
                  </a:solidFill>
                </a:rPr>
                <a:t>(Galaxy)</a:t>
              </a:r>
            </a:p>
            <a:p>
              <a:r>
                <a:rPr lang="en-AU" sz="1000" dirty="0"/>
                <a:t>Proteome search against  IWGSC v2.1 database </a:t>
              </a:r>
              <a:r>
                <a:rPr lang="en-AU" sz="1000" dirty="0">
                  <a:solidFill>
                    <a:srgbClr val="E88502"/>
                  </a:solidFill>
                </a:rPr>
                <a:t>(</a:t>
              </a:r>
              <a:r>
                <a:rPr lang="en-AU" sz="1000" i="1" dirty="0" err="1">
                  <a:solidFill>
                    <a:srgbClr val="E88502"/>
                  </a:solidFill>
                </a:rPr>
                <a:t>FragPipe</a:t>
              </a:r>
              <a:r>
                <a:rPr lang="en-AU" sz="1000" i="1" dirty="0">
                  <a:solidFill>
                    <a:srgbClr val="E88502"/>
                  </a:solidFill>
                </a:rPr>
                <a:t>: </a:t>
              </a:r>
              <a:r>
                <a:rPr lang="en-AU" sz="1000" i="1" dirty="0" err="1">
                  <a:solidFill>
                    <a:srgbClr val="E88502"/>
                  </a:solidFill>
                </a:rPr>
                <a:t>MSFragger</a:t>
              </a:r>
              <a:r>
                <a:rPr lang="en-AU" sz="1000" i="1" dirty="0">
                  <a:solidFill>
                    <a:srgbClr val="E88502"/>
                  </a:solidFill>
                </a:rPr>
                <a:t> </a:t>
              </a:r>
              <a:r>
                <a:rPr lang="en-AU" sz="1000" dirty="0">
                  <a:solidFill>
                    <a:srgbClr val="E88502"/>
                  </a:solidFill>
                </a:rPr>
                <a:t>→</a:t>
              </a:r>
              <a:r>
                <a:rPr lang="en-AU" sz="1000" i="1" dirty="0">
                  <a:solidFill>
                    <a:srgbClr val="E88502"/>
                  </a:solidFill>
                </a:rPr>
                <a:t> </a:t>
              </a:r>
              <a:r>
                <a:rPr lang="en-AU" sz="1000" i="1" dirty="0" err="1">
                  <a:solidFill>
                    <a:srgbClr val="E88502"/>
                  </a:solidFill>
                </a:rPr>
                <a:t>PeptideProphet</a:t>
              </a:r>
              <a:r>
                <a:rPr lang="en-AU" sz="1000" dirty="0">
                  <a:solidFill>
                    <a:srgbClr val="E88502"/>
                  </a:solidFill>
                </a:rPr>
                <a:t> →</a:t>
              </a:r>
              <a:r>
                <a:rPr lang="en-AU" sz="1000" i="1" dirty="0">
                  <a:solidFill>
                    <a:srgbClr val="E88502"/>
                  </a:solidFill>
                </a:rPr>
                <a:t> </a:t>
              </a:r>
              <a:r>
                <a:rPr lang="en-AU" sz="1000" i="1" dirty="0" err="1">
                  <a:solidFill>
                    <a:srgbClr val="E88502"/>
                  </a:solidFill>
                </a:rPr>
                <a:t>ProteinProphet</a:t>
              </a:r>
              <a:r>
                <a:rPr lang="en-AU" sz="1000" dirty="0">
                  <a:solidFill>
                    <a:srgbClr val="E88502"/>
                  </a:solidFill>
                </a:rPr>
                <a:t>)</a:t>
              </a:r>
            </a:p>
            <a:p>
              <a:r>
                <a:rPr lang="en-AU" sz="1000" dirty="0"/>
                <a:t>        </a:t>
              </a:r>
            </a:p>
            <a:p>
              <a:endParaRPr lang="en-AU" sz="1000" dirty="0"/>
            </a:p>
            <a:p>
              <a:r>
                <a:rPr lang="en-AU" sz="1600" b="1" dirty="0">
                  <a:solidFill>
                    <a:srgbClr val="7030A0"/>
                  </a:solidFill>
                </a:rPr>
                <a:t>2. GFF3 ANNOTATION FRAMEWORK</a:t>
              </a:r>
            </a:p>
            <a:p>
              <a:r>
                <a:rPr lang="en-AU" sz="1000" i="1" dirty="0">
                  <a:solidFill>
                    <a:srgbClr val="FF3399"/>
                  </a:solidFill>
                </a:rPr>
                <a:t>Step 5</a:t>
              </a:r>
            </a:p>
            <a:p>
              <a:r>
                <a:rPr lang="en-AU" sz="1000" dirty="0" err="1"/>
                <a:t>ProteinID</a:t>
              </a:r>
              <a:r>
                <a:rPr lang="en-AU" sz="1000" dirty="0"/>
                <a:t> → </a:t>
              </a:r>
              <a:r>
                <a:rPr lang="en-AU" sz="1000" dirty="0" err="1"/>
                <a:t>TranscriptID</a:t>
              </a:r>
              <a:r>
                <a:rPr lang="en-AU" sz="1000" dirty="0"/>
                <a:t> → </a:t>
              </a:r>
              <a:r>
                <a:rPr lang="en-AU" sz="1000" dirty="0" err="1"/>
                <a:t>GeneModel</a:t>
              </a:r>
              <a:r>
                <a:rPr lang="en-AU" sz="1000" dirty="0"/>
                <a:t> → CDS blocks </a:t>
              </a:r>
              <a:r>
                <a:rPr lang="en-AU" sz="1000" dirty="0">
                  <a:solidFill>
                    <a:srgbClr val="E88502"/>
                  </a:solidFill>
                </a:rPr>
                <a:t>(</a:t>
              </a:r>
              <a:r>
                <a:rPr lang="en-AU" sz="1000" i="1" dirty="0">
                  <a:solidFill>
                    <a:srgbClr val="E88502"/>
                  </a:solidFill>
                </a:rPr>
                <a:t>Python</a:t>
              </a:r>
              <a:r>
                <a:rPr lang="en-AU" sz="1000" dirty="0">
                  <a:solidFill>
                    <a:srgbClr val="E88502"/>
                  </a:solidFill>
                </a:rPr>
                <a:t>)</a:t>
              </a:r>
            </a:p>
            <a:p>
              <a:r>
                <a:rPr lang="en-AU" sz="1000" dirty="0"/>
                <a:t>        </a:t>
              </a:r>
            </a:p>
            <a:p>
              <a:endParaRPr lang="en-AU" sz="1000" dirty="0"/>
            </a:p>
            <a:p>
              <a:r>
                <a:rPr lang="en-AU" sz="1600" b="1" dirty="0">
                  <a:solidFill>
                    <a:srgbClr val="7030A0"/>
                  </a:solidFill>
                </a:rPr>
                <a:t>3. PEPTIDE EVIDENCE CONSTRUCTION</a:t>
              </a:r>
            </a:p>
            <a:p>
              <a:r>
                <a:rPr lang="en-AU" sz="1000" i="1" dirty="0">
                  <a:solidFill>
                    <a:srgbClr val="FF3399"/>
                  </a:solidFill>
                </a:rPr>
                <a:t>Steps 6–8</a:t>
              </a:r>
            </a:p>
            <a:p>
              <a:r>
                <a:rPr lang="en-AU" sz="1000" dirty="0" err="1"/>
                <a:t>FragPipe</a:t>
              </a:r>
              <a:r>
                <a:rPr lang="en-AU" sz="1000" dirty="0"/>
                <a:t> output importation </a:t>
              </a:r>
              <a:r>
                <a:rPr lang="en-AU" sz="1000" dirty="0">
                  <a:solidFill>
                    <a:srgbClr val="E88502"/>
                  </a:solidFill>
                </a:rPr>
                <a:t>(</a:t>
              </a:r>
              <a:r>
                <a:rPr lang="en-AU" sz="1000" i="1" dirty="0">
                  <a:solidFill>
                    <a:srgbClr val="E88502"/>
                  </a:solidFill>
                </a:rPr>
                <a:t>Python</a:t>
              </a:r>
              <a:r>
                <a:rPr lang="en-AU" sz="1000" dirty="0">
                  <a:solidFill>
                    <a:srgbClr val="E88502"/>
                  </a:solidFill>
                </a:rPr>
                <a:t>) </a:t>
              </a:r>
            </a:p>
            <a:p>
              <a:r>
                <a:rPr lang="en-AU" sz="1000" dirty="0"/>
                <a:t>Non-contaminant peptide–protein–gene evidence </a:t>
              </a:r>
              <a:r>
                <a:rPr lang="en-AU" sz="1000" dirty="0">
                  <a:solidFill>
                    <a:srgbClr val="E88502"/>
                  </a:solidFill>
                </a:rPr>
                <a:t>(</a:t>
              </a:r>
              <a:r>
                <a:rPr lang="en-AU" sz="1000" i="1" dirty="0">
                  <a:solidFill>
                    <a:srgbClr val="E88502"/>
                  </a:solidFill>
                </a:rPr>
                <a:t>Python</a:t>
              </a:r>
              <a:r>
                <a:rPr lang="en-AU" sz="1000" dirty="0">
                  <a:solidFill>
                    <a:srgbClr val="E88502"/>
                  </a:solidFill>
                </a:rPr>
                <a:t>)</a:t>
              </a:r>
            </a:p>
            <a:p>
              <a:r>
                <a:rPr lang="en-AU" sz="1000" dirty="0"/>
                <a:t>Protein to gene model projections using GFF3-derived table </a:t>
              </a:r>
              <a:r>
                <a:rPr lang="en-AU" sz="1000" dirty="0">
                  <a:solidFill>
                    <a:srgbClr val="E88502"/>
                  </a:solidFill>
                </a:rPr>
                <a:t>(</a:t>
              </a:r>
              <a:r>
                <a:rPr lang="en-AU" sz="1000" i="1" dirty="0">
                  <a:solidFill>
                    <a:srgbClr val="E88502"/>
                  </a:solidFill>
                </a:rPr>
                <a:t>Python</a:t>
              </a:r>
              <a:r>
                <a:rPr lang="en-AU" sz="1000" dirty="0">
                  <a:solidFill>
                    <a:srgbClr val="E88502"/>
                  </a:solidFill>
                </a:rPr>
                <a:t>)</a:t>
              </a:r>
              <a:endParaRPr lang="en-AU" sz="1000" dirty="0"/>
            </a:p>
            <a:p>
              <a:r>
                <a:rPr lang="en-AU" sz="1000" dirty="0"/>
                <a:t>        </a:t>
              </a:r>
            </a:p>
            <a:p>
              <a:endParaRPr lang="en-AU" sz="1000" dirty="0"/>
            </a:p>
            <a:p>
              <a:r>
                <a:rPr lang="en-AU" sz="1600" b="1" dirty="0">
                  <a:solidFill>
                    <a:srgbClr val="7030A0"/>
                  </a:solidFill>
                </a:rPr>
                <a:t>4. GFF3-BASED PEPTIDE PROJECTION</a:t>
              </a:r>
            </a:p>
            <a:p>
              <a:r>
                <a:rPr lang="en-AU" sz="1000" i="1" dirty="0">
                  <a:solidFill>
                    <a:srgbClr val="FF3399"/>
                  </a:solidFill>
                </a:rPr>
                <a:t>Step 9</a:t>
              </a:r>
            </a:p>
            <a:p>
              <a:r>
                <a:rPr lang="en-US" sz="1000" dirty="0"/>
                <a:t>Peptide in protein → coding nucleotide coordinates → exon-aware genomic blocks </a:t>
              </a:r>
              <a:r>
                <a:rPr lang="en-AU" sz="1000" dirty="0">
                  <a:solidFill>
                    <a:srgbClr val="E88502"/>
                  </a:solidFill>
                </a:rPr>
                <a:t>(</a:t>
              </a:r>
              <a:r>
                <a:rPr lang="en-AU" sz="1000" i="1" dirty="0">
                  <a:solidFill>
                    <a:srgbClr val="E88502"/>
                  </a:solidFill>
                </a:rPr>
                <a:t>Python</a:t>
              </a:r>
              <a:r>
                <a:rPr lang="en-AU" sz="1000" dirty="0">
                  <a:solidFill>
                    <a:srgbClr val="E88502"/>
                  </a:solidFill>
                </a:rPr>
                <a:t>)</a:t>
              </a:r>
              <a:endParaRPr lang="en-AU" sz="1000" dirty="0"/>
            </a:p>
            <a:p>
              <a:r>
                <a:rPr lang="en-AU" sz="1000" dirty="0"/>
                <a:t>        </a:t>
              </a:r>
            </a:p>
            <a:p>
              <a:endParaRPr lang="en-AU" sz="1000" dirty="0"/>
            </a:p>
            <a:p>
              <a:endParaRPr lang="en-AU" sz="1000" dirty="0"/>
            </a:p>
            <a:p>
              <a:endParaRPr lang="en-AU" sz="1000" dirty="0"/>
            </a:p>
            <a:p>
              <a:endParaRPr lang="en-AU" sz="1000" dirty="0"/>
            </a:p>
            <a:p>
              <a:endParaRPr lang="en-AU" sz="1000" dirty="0"/>
            </a:p>
            <a:p>
              <a:endParaRPr lang="en-AU" sz="1000" dirty="0"/>
            </a:p>
            <a:p>
              <a:endParaRPr lang="en-AU" sz="1000" dirty="0"/>
            </a:p>
            <a:p>
              <a:endParaRPr lang="en-AU" sz="1000" dirty="0"/>
            </a:p>
            <a:p>
              <a:r>
                <a:rPr lang="en-AU" sz="1600" b="1" dirty="0">
                  <a:solidFill>
                    <a:srgbClr val="7030A0"/>
                  </a:solidFill>
                </a:rPr>
                <a:t>5. PEPTIDE PROJECTION VALIDATION</a:t>
              </a:r>
            </a:p>
            <a:p>
              <a:r>
                <a:rPr lang="en-AU" sz="1000" i="1" dirty="0">
                  <a:solidFill>
                    <a:srgbClr val="FF3399"/>
                  </a:solidFill>
                </a:rPr>
                <a:t>Steps 10, 11</a:t>
              </a:r>
            </a:p>
            <a:p>
              <a:r>
                <a:rPr lang="en-AU" sz="1000" dirty="0"/>
                <a:t>Translation validation: </a:t>
              </a:r>
              <a:r>
                <a:rPr lang="en-US" sz="1000" dirty="0"/>
                <a:t>projected genomic blocks → translated peptide → match/mismatch QC</a:t>
              </a:r>
              <a:r>
                <a:rPr lang="en-AU" sz="1000" dirty="0"/>
                <a:t> </a:t>
              </a:r>
              <a:r>
                <a:rPr lang="en-AU" sz="1000" dirty="0">
                  <a:solidFill>
                    <a:srgbClr val="E88502"/>
                  </a:solidFill>
                </a:rPr>
                <a:t>(</a:t>
              </a:r>
              <a:r>
                <a:rPr lang="en-AU" sz="1000" i="1" dirty="0">
                  <a:solidFill>
                    <a:srgbClr val="E88502"/>
                  </a:solidFill>
                </a:rPr>
                <a:t>Python</a:t>
              </a:r>
              <a:r>
                <a:rPr lang="en-AU" sz="1000" dirty="0">
                  <a:solidFill>
                    <a:srgbClr val="E88502"/>
                  </a:solidFill>
                </a:rPr>
                <a:t>)</a:t>
              </a:r>
              <a:endParaRPr lang="en-AU" sz="1000" dirty="0"/>
            </a:p>
            <a:p>
              <a:r>
                <a:rPr lang="en-AU" sz="1000" dirty="0"/>
                <a:t>Independent sanity checks </a:t>
              </a:r>
              <a:r>
                <a:rPr lang="en-AU" sz="1000" dirty="0">
                  <a:solidFill>
                    <a:srgbClr val="E88502"/>
                  </a:solidFill>
                </a:rPr>
                <a:t>(</a:t>
              </a:r>
              <a:r>
                <a:rPr lang="en-AU" sz="1000" i="1" dirty="0">
                  <a:solidFill>
                    <a:srgbClr val="E88502"/>
                  </a:solidFill>
                </a:rPr>
                <a:t>Python</a:t>
              </a:r>
              <a:r>
                <a:rPr lang="en-AU" sz="1000" dirty="0">
                  <a:solidFill>
                    <a:srgbClr val="E88502"/>
                  </a:solidFill>
                </a:rPr>
                <a:t>)</a:t>
              </a:r>
            </a:p>
            <a:p>
              <a:r>
                <a:rPr lang="en-AU" sz="1000" dirty="0"/>
                <a:t>        </a:t>
              </a:r>
            </a:p>
            <a:p>
              <a:endParaRPr lang="en-AU" sz="1000" dirty="0"/>
            </a:p>
            <a:p>
              <a:endParaRPr lang="en-AU" sz="1000" dirty="0"/>
            </a:p>
            <a:p>
              <a:endParaRPr lang="en-AU" sz="1000" dirty="0"/>
            </a:p>
            <a:p>
              <a:endParaRPr lang="en-AU" sz="1000" dirty="0"/>
            </a:p>
            <a:p>
              <a:endParaRPr lang="en-AU" sz="1000" dirty="0"/>
            </a:p>
            <a:p>
              <a:endParaRPr lang="en-AU" sz="1000" dirty="0"/>
            </a:p>
            <a:p>
              <a:endParaRPr lang="en-AU" sz="1000" dirty="0"/>
            </a:p>
            <a:p>
              <a:endParaRPr lang="en-AU" sz="1000" dirty="0"/>
            </a:p>
            <a:p>
              <a:endParaRPr lang="en-AU" sz="1000" dirty="0"/>
            </a:p>
            <a:p>
              <a:endParaRPr lang="en-AU" sz="1000" dirty="0"/>
            </a:p>
            <a:p>
              <a:r>
                <a:rPr lang="en-AU" sz="1600" b="1" dirty="0">
                  <a:solidFill>
                    <a:srgbClr val="7030A0"/>
                  </a:solidFill>
                </a:rPr>
                <a:t>6. RESOURCE OUTPUT + INTERPRETATION</a:t>
              </a:r>
            </a:p>
            <a:p>
              <a:r>
                <a:rPr lang="en-AU" sz="1000" i="1" dirty="0">
                  <a:solidFill>
                    <a:srgbClr val="FF3399"/>
                  </a:solidFill>
                </a:rPr>
                <a:t>Steps 12-25</a:t>
              </a:r>
            </a:p>
            <a:p>
              <a:r>
                <a:rPr lang="en-AU" sz="1000" dirty="0"/>
                <a:t>validated projections exported as BED tracks </a:t>
              </a:r>
              <a:r>
                <a:rPr lang="en-AU" sz="1000" dirty="0">
                  <a:solidFill>
                    <a:srgbClr val="E88502"/>
                  </a:solidFill>
                </a:rPr>
                <a:t>(</a:t>
              </a:r>
              <a:r>
                <a:rPr lang="en-AU" sz="1000" i="1" dirty="0">
                  <a:solidFill>
                    <a:srgbClr val="E88502"/>
                  </a:solidFill>
                </a:rPr>
                <a:t>Python</a:t>
              </a:r>
              <a:r>
                <a:rPr lang="en-AU" sz="1000" dirty="0">
                  <a:solidFill>
                    <a:srgbClr val="E88502"/>
                  </a:solidFill>
                </a:rPr>
                <a:t>)</a:t>
              </a:r>
            </a:p>
            <a:p>
              <a:r>
                <a:rPr lang="en-AU" sz="1000" dirty="0"/>
                <a:t>BED tracks permanent upload </a:t>
              </a:r>
              <a:r>
                <a:rPr lang="en-AU" sz="1000" i="1" dirty="0">
                  <a:solidFill>
                    <a:srgbClr val="E88502"/>
                  </a:solidFill>
                </a:rPr>
                <a:t>(Apollo </a:t>
              </a:r>
              <a:r>
                <a:rPr lang="en-AU" sz="1000" i="1" dirty="0" err="1">
                  <a:solidFill>
                    <a:srgbClr val="E88502"/>
                  </a:solidFill>
                </a:rPr>
                <a:t>Jbrowse</a:t>
              </a:r>
              <a:r>
                <a:rPr lang="en-AU" sz="1000" i="1" dirty="0">
                  <a:solidFill>
                    <a:srgbClr val="E88502"/>
                  </a:solidFill>
                </a:rPr>
                <a:t>)</a:t>
              </a:r>
            </a:p>
            <a:p>
              <a:r>
                <a:rPr lang="en-AU" sz="1000" dirty="0"/>
                <a:t>EDA (scatter, box, violin, bar, </a:t>
              </a:r>
              <a:r>
                <a:rPr lang="en-AU" sz="1000" dirty="0" err="1"/>
                <a:t>UpSet</a:t>
              </a:r>
              <a:r>
                <a:rPr lang="en-AU" sz="1000" dirty="0"/>
                <a:t>, circular plots, histograms, Venn diagram, pie chart) </a:t>
              </a:r>
              <a:r>
                <a:rPr lang="en-AU" sz="1000" dirty="0">
                  <a:solidFill>
                    <a:srgbClr val="E88502"/>
                  </a:solidFill>
                </a:rPr>
                <a:t>(</a:t>
              </a:r>
              <a:r>
                <a:rPr lang="en-AU" sz="1000" i="1" dirty="0">
                  <a:solidFill>
                    <a:srgbClr val="E88502"/>
                  </a:solidFill>
                </a:rPr>
                <a:t>Python</a:t>
              </a:r>
              <a:r>
                <a:rPr lang="en-AU" sz="1000" dirty="0">
                  <a:solidFill>
                    <a:srgbClr val="E88502"/>
                  </a:solidFill>
                </a:rPr>
                <a:t>)</a:t>
              </a:r>
              <a:endParaRPr lang="en-AU" sz="1000" dirty="0"/>
            </a:p>
            <a:p>
              <a:r>
                <a:rPr lang="en-AU" sz="1000" dirty="0"/>
                <a:t>HC/LC support  </a:t>
              </a:r>
              <a:r>
                <a:rPr lang="en-AU" sz="1000" dirty="0">
                  <a:solidFill>
                    <a:srgbClr val="E88502"/>
                  </a:solidFill>
                </a:rPr>
                <a:t>(</a:t>
              </a:r>
              <a:r>
                <a:rPr lang="en-AU" sz="1000" i="1" dirty="0">
                  <a:solidFill>
                    <a:srgbClr val="E88502"/>
                  </a:solidFill>
                </a:rPr>
                <a:t>Python</a:t>
              </a:r>
              <a:r>
                <a:rPr lang="en-AU" sz="1000" dirty="0">
                  <a:solidFill>
                    <a:srgbClr val="E88502"/>
                  </a:solidFill>
                </a:rPr>
                <a:t>)</a:t>
              </a:r>
              <a:endParaRPr lang="en-AU" sz="1000" dirty="0"/>
            </a:p>
          </p:txBody>
        </p:sp>
        <p:sp>
          <p:nvSpPr>
            <p:cNvPr id="7" name="Rectangle: Top Corners Rounded 6">
              <a:extLst>
                <a:ext uri="{FF2B5EF4-FFF2-40B4-BE49-F238E27FC236}">
                  <a16:creationId xmlns:a16="http://schemas.microsoft.com/office/drawing/2014/main" id="{11968F10-0186-F46E-E5B9-7FA3BA065AF7}"/>
                </a:ext>
              </a:extLst>
            </p:cNvPr>
            <p:cNvSpPr/>
            <p:nvPr/>
          </p:nvSpPr>
          <p:spPr>
            <a:xfrm>
              <a:off x="46682" y="581904"/>
              <a:ext cx="6735118" cy="437980"/>
            </a:xfrm>
            <a:prstGeom prst="round2SameRect">
              <a:avLst>
                <a:gd name="adj1" fmla="val 24509"/>
                <a:gd name="adj2" fmla="val 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Arrow: Down 8">
              <a:extLst>
                <a:ext uri="{FF2B5EF4-FFF2-40B4-BE49-F238E27FC236}">
                  <a16:creationId xmlns:a16="http://schemas.microsoft.com/office/drawing/2014/main" id="{8E291127-1B74-33C7-9613-A8DEB4F83ACA}"/>
                </a:ext>
              </a:extLst>
            </p:cNvPr>
            <p:cNvSpPr/>
            <p:nvPr/>
          </p:nvSpPr>
          <p:spPr>
            <a:xfrm>
              <a:off x="206367" y="2147772"/>
              <a:ext cx="814360" cy="311490"/>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10" name="TextBox 9">
              <a:extLst>
                <a:ext uri="{FF2B5EF4-FFF2-40B4-BE49-F238E27FC236}">
                  <a16:creationId xmlns:a16="http://schemas.microsoft.com/office/drawing/2014/main" id="{D9769E62-221F-09A7-8C05-7C2CF254B8B0}"/>
                </a:ext>
              </a:extLst>
            </p:cNvPr>
            <p:cNvSpPr txBox="1"/>
            <p:nvPr/>
          </p:nvSpPr>
          <p:spPr>
            <a:xfrm>
              <a:off x="442007" y="600724"/>
              <a:ext cx="5972174" cy="400110"/>
            </a:xfrm>
            <a:prstGeom prst="rect">
              <a:avLst/>
            </a:prstGeom>
            <a:noFill/>
          </p:spPr>
          <p:txBody>
            <a:bodyPr wrap="square" rtlCol="0">
              <a:spAutoFit/>
            </a:bodyPr>
            <a:lstStyle/>
            <a:p>
              <a:pPr algn="ctr"/>
              <a:r>
                <a:rPr lang="en-US" sz="2000" b="1" dirty="0">
                  <a:solidFill>
                    <a:schemeClr val="bg1"/>
                  </a:solidFill>
                </a:rPr>
                <a:t>Genome-guided wheat </a:t>
              </a:r>
              <a:r>
                <a:rPr lang="en-US" sz="2000" b="1" dirty="0" err="1">
                  <a:solidFill>
                    <a:schemeClr val="bg1"/>
                  </a:solidFill>
                </a:rPr>
                <a:t>proteogenomics</a:t>
              </a:r>
              <a:r>
                <a:rPr lang="en-US" sz="2000" b="1" dirty="0">
                  <a:solidFill>
                    <a:schemeClr val="bg1"/>
                  </a:solidFill>
                </a:rPr>
                <a:t> workflow</a:t>
              </a:r>
              <a:endParaRPr lang="en-AU" sz="2000" b="1" dirty="0">
                <a:solidFill>
                  <a:schemeClr val="bg1"/>
                </a:solidFill>
              </a:endParaRPr>
            </a:p>
          </p:txBody>
        </p:sp>
        <p:sp>
          <p:nvSpPr>
            <p:cNvPr id="11" name="Rectangle: Rounded Corners 10">
              <a:extLst>
                <a:ext uri="{FF2B5EF4-FFF2-40B4-BE49-F238E27FC236}">
                  <a16:creationId xmlns:a16="http://schemas.microsoft.com/office/drawing/2014/main" id="{381662D2-DBD7-BE3E-3815-AD4FFE401E28}"/>
                </a:ext>
              </a:extLst>
            </p:cNvPr>
            <p:cNvSpPr/>
            <p:nvPr/>
          </p:nvSpPr>
          <p:spPr>
            <a:xfrm>
              <a:off x="46682" y="577796"/>
              <a:ext cx="6735118" cy="9232954"/>
            </a:xfrm>
            <a:prstGeom prst="roundRect">
              <a:avLst>
                <a:gd name="adj" fmla="val 1741"/>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Arrow: Down 14">
              <a:extLst>
                <a:ext uri="{FF2B5EF4-FFF2-40B4-BE49-F238E27FC236}">
                  <a16:creationId xmlns:a16="http://schemas.microsoft.com/office/drawing/2014/main" id="{56B732ED-F7BD-02F3-6C64-2F3013EEF029}"/>
                </a:ext>
              </a:extLst>
            </p:cNvPr>
            <p:cNvSpPr/>
            <p:nvPr/>
          </p:nvSpPr>
          <p:spPr>
            <a:xfrm>
              <a:off x="206367" y="3017556"/>
              <a:ext cx="814360" cy="311490"/>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16" name="Arrow: Down 15">
              <a:extLst>
                <a:ext uri="{FF2B5EF4-FFF2-40B4-BE49-F238E27FC236}">
                  <a16:creationId xmlns:a16="http://schemas.microsoft.com/office/drawing/2014/main" id="{6C480D44-0A9B-A902-F5F0-9CF477D2D9F4}"/>
                </a:ext>
              </a:extLst>
            </p:cNvPr>
            <p:cNvSpPr/>
            <p:nvPr/>
          </p:nvSpPr>
          <p:spPr>
            <a:xfrm>
              <a:off x="206367" y="4149332"/>
              <a:ext cx="814360" cy="311490"/>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17" name="Arrow: Down 16">
              <a:extLst>
                <a:ext uri="{FF2B5EF4-FFF2-40B4-BE49-F238E27FC236}">
                  <a16:creationId xmlns:a16="http://schemas.microsoft.com/office/drawing/2014/main" id="{564604F4-3D5E-4028-01B0-A74667C55A57}"/>
                </a:ext>
              </a:extLst>
            </p:cNvPr>
            <p:cNvSpPr/>
            <p:nvPr/>
          </p:nvSpPr>
          <p:spPr>
            <a:xfrm>
              <a:off x="206367" y="8418602"/>
              <a:ext cx="814360" cy="311490"/>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18" name="Arrow: Down 17">
              <a:extLst>
                <a:ext uri="{FF2B5EF4-FFF2-40B4-BE49-F238E27FC236}">
                  <a16:creationId xmlns:a16="http://schemas.microsoft.com/office/drawing/2014/main" id="{F53154E6-01F7-F3CB-25A2-0E6FEF782331}"/>
                </a:ext>
              </a:extLst>
            </p:cNvPr>
            <p:cNvSpPr/>
            <p:nvPr/>
          </p:nvSpPr>
          <p:spPr>
            <a:xfrm>
              <a:off x="206367" y="6071100"/>
              <a:ext cx="814360" cy="311490"/>
            </a:xfrm>
            <a:prstGeom prst="downArrow">
              <a:avLst>
                <a:gd name="adj1" fmla="val 38927"/>
                <a:gd name="adj2" fmla="val 50000"/>
              </a:avLst>
            </a:prstGeom>
            <a:gradFill flip="none" rotWithShape="1">
              <a:gsLst>
                <a:gs pos="0">
                  <a:srgbClr val="9999FF"/>
                </a:gs>
                <a:gs pos="66000">
                  <a:srgbClr val="7030A0"/>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grpSp>
          <p:nvGrpSpPr>
            <p:cNvPr id="24" name="Group 23">
              <a:extLst>
                <a:ext uri="{FF2B5EF4-FFF2-40B4-BE49-F238E27FC236}">
                  <a16:creationId xmlns:a16="http://schemas.microsoft.com/office/drawing/2014/main" id="{16BC8618-8448-50F9-47D1-9D5DCA1E75B4}"/>
                </a:ext>
              </a:extLst>
            </p:cNvPr>
            <p:cNvGrpSpPr/>
            <p:nvPr/>
          </p:nvGrpSpPr>
          <p:grpSpPr>
            <a:xfrm>
              <a:off x="1555754" y="5059313"/>
              <a:ext cx="5086350" cy="947929"/>
              <a:chOff x="1555754" y="5484621"/>
              <a:chExt cx="5086350" cy="947929"/>
            </a:xfrm>
          </p:grpSpPr>
          <p:sp>
            <p:nvSpPr>
              <p:cNvPr id="20" name="Rectangle: Rounded Corners 19">
                <a:extLst>
                  <a:ext uri="{FF2B5EF4-FFF2-40B4-BE49-F238E27FC236}">
                    <a16:creationId xmlns:a16="http://schemas.microsoft.com/office/drawing/2014/main" id="{374C3C49-AA2A-476A-2655-4CE6DC6B7FDE}"/>
                  </a:ext>
                </a:extLst>
              </p:cNvPr>
              <p:cNvSpPr/>
              <p:nvPr/>
            </p:nvSpPr>
            <p:spPr>
              <a:xfrm>
                <a:off x="1555754" y="5484621"/>
                <a:ext cx="5086350" cy="947929"/>
              </a:xfrm>
              <a:prstGeom prst="roundRect">
                <a:avLst/>
              </a:prstGeom>
              <a:solidFill>
                <a:srgbClr val="E6C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F4FAFA18-391A-7001-60AB-814AC443FD41}"/>
                  </a:ext>
                </a:extLst>
              </p:cNvPr>
              <p:cNvSpPr txBox="1"/>
              <p:nvPr/>
            </p:nvSpPr>
            <p:spPr>
              <a:xfrm>
                <a:off x="1593275" y="5543086"/>
                <a:ext cx="5011308" cy="830997"/>
              </a:xfrm>
              <a:prstGeom prst="rect">
                <a:avLst/>
              </a:prstGeom>
              <a:noFill/>
            </p:spPr>
            <p:txBody>
              <a:bodyPr wrap="none" rtlCol="0">
                <a:spAutoFit/>
              </a:bodyPr>
              <a:lstStyle/>
              <a:p>
                <a:pPr marL="228600" indent="-228600">
                  <a:buFont typeface="+mj-lt"/>
                  <a:buAutoNum type="arabicPeriod"/>
                </a:pPr>
                <a:r>
                  <a:rPr lang="en-US" sz="800" dirty="0">
                    <a:solidFill>
                      <a:srgbClr val="3F007E"/>
                    </a:solidFill>
                  </a:rPr>
                  <a:t>Locates the peptide amino acid sequence within the corresponding protein sequence.</a:t>
                </a:r>
              </a:p>
              <a:p>
                <a:pPr marL="228600" indent="-228600">
                  <a:buFont typeface="+mj-lt"/>
                  <a:buAutoNum type="arabicPeriod"/>
                </a:pPr>
                <a:r>
                  <a:rPr lang="en-US" sz="800" dirty="0">
                    <a:solidFill>
                      <a:srgbClr val="3F007E"/>
                    </a:solidFill>
                  </a:rPr>
                  <a:t>Converts the peptide amino acid interval into coding nucleotide positions.</a:t>
                </a:r>
              </a:p>
              <a:p>
                <a:pPr marL="228600" indent="-228600">
                  <a:buFont typeface="+mj-lt"/>
                  <a:buAutoNum type="arabicPeriod"/>
                </a:pPr>
                <a:r>
                  <a:rPr lang="en-US" sz="800" dirty="0">
                    <a:solidFill>
                      <a:srgbClr val="3F007E"/>
                    </a:solidFill>
                  </a:rPr>
                  <a:t>Retrieves the CDS blocks associated with the corresponding transcript.</a:t>
                </a:r>
              </a:p>
              <a:p>
                <a:pPr marL="228600" indent="-228600">
                  <a:buFont typeface="+mj-lt"/>
                  <a:buAutoNum type="arabicPeriod"/>
                </a:pPr>
                <a:r>
                  <a:rPr lang="en-US" sz="800" dirty="0">
                    <a:solidFill>
                      <a:srgbClr val="3F007E"/>
                    </a:solidFill>
                  </a:rPr>
                  <a:t>Projects coding nucleotide positions onto genomic coordinates.</a:t>
                </a:r>
              </a:p>
              <a:p>
                <a:pPr marL="228600" indent="-228600">
                  <a:buFont typeface="+mj-lt"/>
                  <a:buAutoNum type="arabicPeriod"/>
                </a:pPr>
                <a:r>
                  <a:rPr lang="en-US" sz="800" dirty="0">
                    <a:solidFill>
                      <a:srgbClr val="3F007E"/>
                    </a:solidFill>
                  </a:rPr>
                  <a:t>Collapses projected nucleotide positions into genomic blocks.</a:t>
                </a:r>
              </a:p>
              <a:p>
                <a:pPr marL="228600" indent="-228600">
                  <a:buFont typeface="+mj-lt"/>
                  <a:buAutoNum type="arabicPeriod"/>
                </a:pPr>
                <a:r>
                  <a:rPr lang="en-US" sz="800" dirty="0">
                    <a:solidFill>
                      <a:srgbClr val="3F007E"/>
                    </a:solidFill>
                  </a:rPr>
                  <a:t>Generates an intron-aware peptide display label (exon-spanning junctions shown using dash characters).</a:t>
                </a:r>
              </a:p>
            </p:txBody>
          </p:sp>
        </p:grpSp>
        <p:grpSp>
          <p:nvGrpSpPr>
            <p:cNvPr id="28" name="Group 27">
              <a:extLst>
                <a:ext uri="{FF2B5EF4-FFF2-40B4-BE49-F238E27FC236}">
                  <a16:creationId xmlns:a16="http://schemas.microsoft.com/office/drawing/2014/main" id="{E40D4641-10B6-1B67-B65A-E1E4EE131DFA}"/>
                </a:ext>
              </a:extLst>
            </p:cNvPr>
            <p:cNvGrpSpPr/>
            <p:nvPr/>
          </p:nvGrpSpPr>
          <p:grpSpPr>
            <a:xfrm>
              <a:off x="1555754" y="7121400"/>
              <a:ext cx="5086350" cy="1350100"/>
              <a:chOff x="1555754" y="7121400"/>
              <a:chExt cx="5086350" cy="1350100"/>
            </a:xfrm>
          </p:grpSpPr>
          <p:sp>
            <p:nvSpPr>
              <p:cNvPr id="21" name="Rectangle: Rounded Corners 20">
                <a:extLst>
                  <a:ext uri="{FF2B5EF4-FFF2-40B4-BE49-F238E27FC236}">
                    <a16:creationId xmlns:a16="http://schemas.microsoft.com/office/drawing/2014/main" id="{B85861B8-DB24-F60A-6000-D97CE60F16CB}"/>
                  </a:ext>
                </a:extLst>
              </p:cNvPr>
              <p:cNvSpPr/>
              <p:nvPr/>
            </p:nvSpPr>
            <p:spPr>
              <a:xfrm>
                <a:off x="1555754" y="7121400"/>
                <a:ext cx="5086350" cy="1350100"/>
              </a:xfrm>
              <a:prstGeom prst="roundRect">
                <a:avLst>
                  <a:gd name="adj" fmla="val 14311"/>
                </a:avLst>
              </a:prstGeom>
              <a:solidFill>
                <a:srgbClr val="E6C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TextBox 21">
                <a:extLst>
                  <a:ext uri="{FF2B5EF4-FFF2-40B4-BE49-F238E27FC236}">
                    <a16:creationId xmlns:a16="http://schemas.microsoft.com/office/drawing/2014/main" id="{5B5CEDDE-AB71-05BA-FB6A-5FEBD5637C38}"/>
                  </a:ext>
                </a:extLst>
              </p:cNvPr>
              <p:cNvSpPr txBox="1"/>
              <p:nvPr/>
            </p:nvSpPr>
            <p:spPr>
              <a:xfrm>
                <a:off x="1593275" y="7140110"/>
                <a:ext cx="5011308" cy="1323439"/>
              </a:xfrm>
              <a:prstGeom prst="rect">
                <a:avLst/>
              </a:prstGeom>
              <a:noFill/>
            </p:spPr>
            <p:txBody>
              <a:bodyPr wrap="square" rtlCol="0">
                <a:spAutoFit/>
              </a:bodyPr>
              <a:lstStyle/>
              <a:p>
                <a:r>
                  <a:rPr lang="en-US" sz="800" dirty="0">
                    <a:solidFill>
                      <a:srgbClr val="3F007E"/>
                    </a:solidFill>
                  </a:rPr>
                  <a:t>Beside the translation validation, 3 independent sanity checks are performed:</a:t>
                </a:r>
              </a:p>
              <a:p>
                <a:pPr marL="228600" indent="-228600">
                  <a:buFont typeface="+mj-lt"/>
                  <a:buAutoNum type="arabicPeriod"/>
                </a:pPr>
                <a:r>
                  <a:rPr lang="en-US" sz="800" dirty="0">
                    <a:solidFill>
                      <a:srgbClr val="3F007E"/>
                    </a:solidFill>
                  </a:rPr>
                  <a:t>BED geometry check: confirms BED coordinates by checking start coordinates &lt; end coordinates, and that BED block sizes and block starts are consistent with each peptide genomic interval.</a:t>
                </a:r>
              </a:p>
              <a:p>
                <a:pPr marL="228600" indent="-228600">
                  <a:buFont typeface="+mj-lt"/>
                  <a:buAutoNum type="arabicPeriod"/>
                </a:pPr>
                <a:r>
                  <a:rPr lang="en-US" sz="800" dirty="0">
                    <a:solidFill>
                      <a:srgbClr val="3F007E"/>
                    </a:solidFill>
                  </a:rPr>
                  <a:t>Chromosome and strand check: confirms that projected peptides are assigned only to expected wheat chromosomes and valid strand values (`+` or `-`).</a:t>
                </a:r>
              </a:p>
              <a:p>
                <a:pPr marL="228600" indent="-228600">
                  <a:buFont typeface="+mj-lt"/>
                  <a:buAutoNum type="arabicPeriod"/>
                </a:pPr>
                <a:r>
                  <a:rPr lang="en-US" sz="800" dirty="0">
                    <a:solidFill>
                      <a:srgbClr val="3F007E"/>
                    </a:solidFill>
                  </a:rPr>
                  <a:t>Protein-coordinate consistency check: confirms that each peptide projection has coherent amino-acid coordinates, including matching peptide length and valid protein coordinate intervals.</a:t>
                </a:r>
              </a:p>
              <a:p>
                <a:r>
                  <a:rPr lang="en-US" sz="800" b="1" u="sng" dirty="0">
                    <a:solidFill>
                      <a:srgbClr val="3F007E"/>
                    </a:solidFill>
                  </a:rPr>
                  <a:t>Evaluation</a:t>
                </a:r>
                <a:r>
                  <a:rPr lang="en-US" sz="800" dirty="0">
                    <a:solidFill>
                      <a:srgbClr val="3F007E"/>
                    </a:solidFill>
                  </a:rPr>
                  <a:t>:</a:t>
                </a:r>
              </a:p>
              <a:p>
                <a:pPr marL="628650" lvl="1" indent="-171450">
                  <a:buFont typeface="Arial" panose="020B0604020202020204" pitchFamily="34" charset="0"/>
                  <a:buChar char="•"/>
                </a:pPr>
                <a:r>
                  <a:rPr lang="en-US" sz="800" dirty="0">
                    <a:solidFill>
                      <a:srgbClr val="3F007E"/>
                    </a:solidFill>
                  </a:rPr>
                  <a:t>translated sequence match + successful checks </a:t>
                </a:r>
                <a:r>
                  <a:rPr lang="en-US" sz="800" dirty="0">
                    <a:solidFill>
                      <a:srgbClr val="3F007E"/>
                    </a:solidFill>
                    <a:sym typeface="Wingdings" panose="05000000000000000000" pitchFamily="2" charset="2"/>
                  </a:rPr>
                  <a:t></a:t>
                </a:r>
                <a:r>
                  <a:rPr lang="en-US" sz="800" dirty="0">
                    <a:solidFill>
                      <a:srgbClr val="3F007E"/>
                    </a:solidFill>
                  </a:rPr>
                  <a:t> peptide validated ☑</a:t>
                </a:r>
              </a:p>
              <a:p>
                <a:pPr marL="628650" lvl="1" indent="-171450">
                  <a:buFont typeface="Arial" panose="020B0604020202020204" pitchFamily="34" charset="0"/>
                  <a:buChar char="•"/>
                </a:pPr>
                <a:r>
                  <a:rPr lang="en-US" sz="800" dirty="0">
                    <a:solidFill>
                      <a:srgbClr val="3F007E"/>
                    </a:solidFill>
                  </a:rPr>
                  <a:t>translated sequence mismatch and/or unsuccessful check </a:t>
                </a:r>
                <a:r>
                  <a:rPr lang="en-US" sz="800" dirty="0">
                    <a:solidFill>
                      <a:srgbClr val="3F007E"/>
                    </a:solidFill>
                    <a:sym typeface="Wingdings" panose="05000000000000000000" pitchFamily="2" charset="2"/>
                  </a:rPr>
                  <a:t></a:t>
                </a:r>
                <a:r>
                  <a:rPr lang="en-US" sz="800" dirty="0">
                    <a:solidFill>
                      <a:srgbClr val="3F007E"/>
                    </a:solidFill>
                  </a:rPr>
                  <a:t> peptide rejected ⮽</a:t>
                </a:r>
              </a:p>
            </p:txBody>
          </p:sp>
        </p:grpSp>
        <p:grpSp>
          <p:nvGrpSpPr>
            <p:cNvPr id="30" name="Group 29">
              <a:extLst>
                <a:ext uri="{FF2B5EF4-FFF2-40B4-BE49-F238E27FC236}">
                  <a16:creationId xmlns:a16="http://schemas.microsoft.com/office/drawing/2014/main" id="{8601E147-E4F0-930B-A178-3F850ADC7AD6}"/>
                </a:ext>
              </a:extLst>
            </p:cNvPr>
            <p:cNvGrpSpPr/>
            <p:nvPr/>
          </p:nvGrpSpPr>
          <p:grpSpPr>
            <a:xfrm>
              <a:off x="204105" y="5058483"/>
              <a:ext cx="1459171" cy="947929"/>
              <a:chOff x="204105" y="5079749"/>
              <a:chExt cx="1459171" cy="947929"/>
            </a:xfrm>
          </p:grpSpPr>
          <p:sp>
            <p:nvSpPr>
              <p:cNvPr id="23" name="TextBox 22">
                <a:extLst>
                  <a:ext uri="{FF2B5EF4-FFF2-40B4-BE49-F238E27FC236}">
                    <a16:creationId xmlns:a16="http://schemas.microsoft.com/office/drawing/2014/main" id="{5570BFB7-ABD8-B047-A15E-B6671EC8CEE2}"/>
                  </a:ext>
                </a:extLst>
              </p:cNvPr>
              <p:cNvSpPr txBox="1"/>
              <p:nvPr/>
            </p:nvSpPr>
            <p:spPr>
              <a:xfrm>
                <a:off x="216803" y="5088077"/>
                <a:ext cx="1446473" cy="938719"/>
              </a:xfrm>
              <a:prstGeom prst="rect">
                <a:avLst/>
              </a:prstGeom>
              <a:noFill/>
            </p:spPr>
            <p:txBody>
              <a:bodyPr wrap="square" rtlCol="0">
                <a:spAutoFit/>
              </a:bodyPr>
              <a:lstStyle/>
              <a:p>
                <a:pPr>
                  <a:lnSpc>
                    <a:spcPts val="600"/>
                  </a:lnSpc>
                </a:pPr>
                <a:r>
                  <a:rPr lang="en-AU" sz="700" b="1" dirty="0">
                    <a:solidFill>
                      <a:srgbClr val="3F007E"/>
                    </a:solidFill>
                  </a:rPr>
                  <a:t>Protein sequence</a:t>
                </a:r>
                <a:br>
                  <a:rPr lang="en-AU" sz="700" dirty="0"/>
                </a:br>
                <a:r>
                  <a:rPr lang="en-AU" sz="600" dirty="0"/>
                  <a:t>MKWVTF</a:t>
                </a:r>
                <a:r>
                  <a:rPr lang="en-AU" sz="600" dirty="0">
                    <a:solidFill>
                      <a:srgbClr val="FF3399"/>
                    </a:solidFill>
                  </a:rPr>
                  <a:t>PEPTIDE</a:t>
                </a:r>
                <a:r>
                  <a:rPr lang="en-AU" sz="600" dirty="0"/>
                  <a:t>ISLLFSSAY...</a:t>
                </a:r>
                <a:br>
                  <a:rPr lang="en-AU" sz="700" dirty="0"/>
                </a:br>
                <a:r>
                  <a:rPr lang="en-AU" sz="700" b="1" dirty="0">
                    <a:solidFill>
                      <a:srgbClr val="E88502"/>
                    </a:solidFill>
                  </a:rPr>
                  <a:t>↓</a:t>
                </a:r>
                <a:br>
                  <a:rPr lang="en-AU" sz="700" dirty="0"/>
                </a:br>
                <a:r>
                  <a:rPr lang="en-AU" sz="700" b="1" dirty="0">
                    <a:solidFill>
                      <a:srgbClr val="3F007E"/>
                    </a:solidFill>
                  </a:rPr>
                  <a:t>Peptide</a:t>
                </a:r>
                <a:r>
                  <a:rPr lang="en-AU" sz="700" dirty="0"/>
                  <a:t> </a:t>
                </a:r>
                <a:r>
                  <a:rPr lang="en-AU" sz="700" b="1" dirty="0">
                    <a:solidFill>
                      <a:srgbClr val="3F007E"/>
                    </a:solidFill>
                  </a:rPr>
                  <a:t>CDS coordinates</a:t>
                </a:r>
                <a:br>
                  <a:rPr lang="en-AU" sz="700" dirty="0"/>
                </a:br>
                <a:r>
                  <a:rPr lang="en-AU" sz="600" dirty="0" err="1">
                    <a:solidFill>
                      <a:srgbClr val="FF3399"/>
                    </a:solidFill>
                  </a:rPr>
                  <a:t>nt</a:t>
                </a:r>
                <a:r>
                  <a:rPr lang="en-AU" sz="600" dirty="0">
                    <a:solidFill>
                      <a:srgbClr val="FF3399"/>
                    </a:solidFill>
                  </a:rPr>
                  <a:t> 241–312</a:t>
                </a:r>
                <a:br>
                  <a:rPr lang="en-AU" sz="700" dirty="0"/>
                </a:br>
                <a:r>
                  <a:rPr lang="en-AU" sz="700" b="1" dirty="0">
                    <a:solidFill>
                      <a:srgbClr val="E88502"/>
                    </a:solidFill>
                  </a:rPr>
                  <a:t>↓</a:t>
                </a:r>
                <a:br>
                  <a:rPr lang="en-AU" sz="700" dirty="0"/>
                </a:br>
                <a:r>
                  <a:rPr lang="en-AU" sz="700" b="1" dirty="0">
                    <a:solidFill>
                      <a:srgbClr val="3F007E"/>
                    </a:solidFill>
                  </a:rPr>
                  <a:t>GFF3 exon blocks</a:t>
                </a:r>
                <a:br>
                  <a:rPr lang="en-AU" sz="700" dirty="0"/>
                </a:br>
                <a:r>
                  <a:rPr lang="en-AU" sz="600" dirty="0">
                    <a:solidFill>
                      <a:srgbClr val="FF3399"/>
                    </a:solidFill>
                  </a:rPr>
                  <a:t>Exon1</a:t>
                </a:r>
                <a:r>
                  <a:rPr lang="en-AU" sz="600" dirty="0"/>
                  <a:t> ─ Intron ─ </a:t>
                </a:r>
                <a:r>
                  <a:rPr lang="en-AU" sz="600" dirty="0">
                    <a:solidFill>
                      <a:srgbClr val="FF3399"/>
                    </a:solidFill>
                  </a:rPr>
                  <a:t>Exon2</a:t>
                </a:r>
                <a:br>
                  <a:rPr lang="en-AU" sz="700" dirty="0"/>
                </a:br>
                <a:r>
                  <a:rPr lang="en-AU" sz="700" b="1" dirty="0">
                    <a:solidFill>
                      <a:srgbClr val="E88502"/>
                    </a:solidFill>
                  </a:rPr>
                  <a:t>↓</a:t>
                </a:r>
                <a:br>
                  <a:rPr lang="en-AU" sz="700" dirty="0"/>
                </a:br>
                <a:r>
                  <a:rPr lang="en-AU" sz="700" b="1" dirty="0">
                    <a:solidFill>
                      <a:srgbClr val="3F007E"/>
                    </a:solidFill>
                  </a:rPr>
                  <a:t>Genomic peptide projection</a:t>
                </a:r>
                <a:br>
                  <a:rPr lang="en-AU" sz="700" dirty="0"/>
                </a:br>
                <a:r>
                  <a:rPr lang="en-AU" sz="500" dirty="0">
                    <a:solidFill>
                      <a:srgbClr val="FF3399"/>
                    </a:solidFill>
                  </a:rPr>
                  <a:t>█████</a:t>
                </a:r>
                <a:r>
                  <a:rPr lang="en-AU" sz="500" dirty="0"/>
                  <a:t>-----</a:t>
                </a:r>
                <a:r>
                  <a:rPr lang="en-AU" sz="500" dirty="0">
                    <a:solidFill>
                      <a:srgbClr val="FF3399"/>
                    </a:solidFill>
                  </a:rPr>
                  <a:t>████</a:t>
                </a:r>
                <a:endParaRPr lang="en-AU" sz="700" dirty="0">
                  <a:solidFill>
                    <a:srgbClr val="FF3399"/>
                  </a:solidFill>
                </a:endParaRPr>
              </a:p>
            </p:txBody>
          </p:sp>
          <p:sp>
            <p:nvSpPr>
              <p:cNvPr id="25" name="Rectangle: Rounded Corners 24">
                <a:extLst>
                  <a:ext uri="{FF2B5EF4-FFF2-40B4-BE49-F238E27FC236}">
                    <a16:creationId xmlns:a16="http://schemas.microsoft.com/office/drawing/2014/main" id="{943CD0B2-988A-A0A6-39E7-3C22FCCB4EA3}"/>
                  </a:ext>
                </a:extLst>
              </p:cNvPr>
              <p:cNvSpPr/>
              <p:nvPr/>
            </p:nvSpPr>
            <p:spPr>
              <a:xfrm>
                <a:off x="204105" y="5079749"/>
                <a:ext cx="1278627" cy="947929"/>
              </a:xfrm>
              <a:prstGeom prst="roundRect">
                <a:avLst/>
              </a:prstGeom>
              <a:noFill/>
              <a:ln>
                <a:solidFill>
                  <a:srgbClr val="E6C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9" name="Group 28">
              <a:extLst>
                <a:ext uri="{FF2B5EF4-FFF2-40B4-BE49-F238E27FC236}">
                  <a16:creationId xmlns:a16="http://schemas.microsoft.com/office/drawing/2014/main" id="{C80AEC97-759E-42F9-607A-E192B7258812}"/>
                </a:ext>
              </a:extLst>
            </p:cNvPr>
            <p:cNvGrpSpPr/>
            <p:nvPr/>
          </p:nvGrpSpPr>
          <p:grpSpPr>
            <a:xfrm>
              <a:off x="201725" y="7086691"/>
              <a:ext cx="1457191" cy="1256835"/>
              <a:chOff x="201725" y="7086691"/>
              <a:chExt cx="1457191" cy="1256835"/>
            </a:xfrm>
          </p:grpSpPr>
          <p:sp>
            <p:nvSpPr>
              <p:cNvPr id="26" name="Rectangle: Rounded Corners 25">
                <a:extLst>
                  <a:ext uri="{FF2B5EF4-FFF2-40B4-BE49-F238E27FC236}">
                    <a16:creationId xmlns:a16="http://schemas.microsoft.com/office/drawing/2014/main" id="{C7AA0D47-FDEC-BBD4-DF7A-8E9B59B63032}"/>
                  </a:ext>
                </a:extLst>
              </p:cNvPr>
              <p:cNvSpPr/>
              <p:nvPr/>
            </p:nvSpPr>
            <p:spPr>
              <a:xfrm>
                <a:off x="201725" y="7121400"/>
                <a:ext cx="1278627" cy="1222126"/>
              </a:xfrm>
              <a:prstGeom prst="roundRect">
                <a:avLst/>
              </a:prstGeom>
              <a:noFill/>
              <a:ln>
                <a:solidFill>
                  <a:srgbClr val="E6C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TextBox 26">
                <a:extLst>
                  <a:ext uri="{FF2B5EF4-FFF2-40B4-BE49-F238E27FC236}">
                    <a16:creationId xmlns:a16="http://schemas.microsoft.com/office/drawing/2014/main" id="{4CCF3821-D48C-4CFB-F8FB-F253CC4F4AAB}"/>
                  </a:ext>
                </a:extLst>
              </p:cNvPr>
              <p:cNvSpPr txBox="1"/>
              <p:nvPr/>
            </p:nvSpPr>
            <p:spPr>
              <a:xfrm>
                <a:off x="212443" y="7086691"/>
                <a:ext cx="1446473" cy="1252074"/>
              </a:xfrm>
              <a:prstGeom prst="rect">
                <a:avLst/>
              </a:prstGeom>
              <a:noFill/>
            </p:spPr>
            <p:txBody>
              <a:bodyPr wrap="square" rtlCol="0">
                <a:spAutoFit/>
              </a:bodyPr>
              <a:lstStyle/>
              <a:p>
                <a:pPr>
                  <a:lnSpc>
                    <a:spcPts val="600"/>
                  </a:lnSpc>
                </a:pPr>
                <a:br>
                  <a:rPr lang="en-AU" sz="700" dirty="0"/>
                </a:br>
                <a:r>
                  <a:rPr lang="en-AU" sz="700" b="1" dirty="0">
                    <a:solidFill>
                      <a:srgbClr val="3F007E"/>
                    </a:solidFill>
                  </a:rPr>
                  <a:t>Projected genomic blocks</a:t>
                </a:r>
                <a:br>
                  <a:rPr lang="en-AU" sz="700" dirty="0"/>
                </a:br>
                <a:r>
                  <a:rPr lang="en-AU" sz="500" dirty="0">
                    <a:solidFill>
                      <a:srgbClr val="FF3399"/>
                    </a:solidFill>
                  </a:rPr>
                  <a:t>█████</a:t>
                </a:r>
                <a:r>
                  <a:rPr lang="en-AU" sz="500" dirty="0"/>
                  <a:t>-----</a:t>
                </a:r>
                <a:r>
                  <a:rPr lang="en-AU" sz="500" dirty="0">
                    <a:solidFill>
                      <a:srgbClr val="FF3399"/>
                    </a:solidFill>
                  </a:rPr>
                  <a:t>████</a:t>
                </a:r>
              </a:p>
              <a:p>
                <a:pPr>
                  <a:lnSpc>
                    <a:spcPts val="600"/>
                  </a:lnSpc>
                </a:pPr>
                <a:r>
                  <a:rPr lang="en-AU" sz="700" b="1" dirty="0">
                    <a:solidFill>
                      <a:srgbClr val="E88502"/>
                    </a:solidFill>
                  </a:rPr>
                  <a:t>↓</a:t>
                </a:r>
              </a:p>
              <a:p>
                <a:pPr>
                  <a:lnSpc>
                    <a:spcPts val="600"/>
                  </a:lnSpc>
                </a:pPr>
                <a:r>
                  <a:rPr lang="en-AU" sz="700" b="1" dirty="0">
                    <a:solidFill>
                      <a:srgbClr val="3F007E"/>
                    </a:solidFill>
                  </a:rPr>
                  <a:t>Retrieved genomic DNA</a:t>
                </a:r>
                <a:br>
                  <a:rPr lang="en-AU" sz="700" dirty="0"/>
                </a:br>
                <a:r>
                  <a:rPr lang="en-AU" sz="600" dirty="0"/>
                  <a:t>ATGGCC...GT...AAGTAA</a:t>
                </a:r>
                <a:br>
                  <a:rPr lang="en-AU" sz="700" dirty="0"/>
                </a:br>
                <a:r>
                  <a:rPr lang="en-AU" sz="700" b="1" dirty="0">
                    <a:solidFill>
                      <a:srgbClr val="E88502"/>
                    </a:solidFill>
                  </a:rPr>
                  <a:t>↓</a:t>
                </a:r>
                <a:br>
                  <a:rPr lang="en-AU" sz="700" dirty="0"/>
                </a:br>
                <a:r>
                  <a:rPr lang="en-AU" sz="700" b="1" dirty="0">
                    <a:solidFill>
                      <a:srgbClr val="3F007E"/>
                    </a:solidFill>
                  </a:rPr>
                  <a:t>Translated peptide</a:t>
                </a:r>
                <a:br>
                  <a:rPr lang="en-AU" sz="700" dirty="0"/>
                </a:br>
                <a:r>
                  <a:rPr lang="en-AU" sz="600" dirty="0"/>
                  <a:t>NINGATTFFSSALPVA</a:t>
                </a:r>
                <a:br>
                  <a:rPr lang="en-AU" sz="700" dirty="0"/>
                </a:br>
                <a:r>
                  <a:rPr lang="en-AU" sz="700" b="1" dirty="0">
                    <a:solidFill>
                      <a:srgbClr val="E88502"/>
                    </a:solidFill>
                  </a:rPr>
                  <a:t>↓</a:t>
                </a:r>
                <a:br>
                  <a:rPr lang="en-AU" sz="700" dirty="0"/>
                </a:br>
                <a:r>
                  <a:rPr lang="en-AU" sz="700" b="1" dirty="0">
                    <a:solidFill>
                      <a:srgbClr val="3F007E"/>
                    </a:solidFill>
                  </a:rPr>
                  <a:t>Original peptide</a:t>
                </a:r>
                <a:br>
                  <a:rPr lang="en-AU" sz="700" dirty="0"/>
                </a:br>
                <a:r>
                  <a:rPr lang="en-AU" sz="700" dirty="0">
                    <a:solidFill>
                      <a:srgbClr val="FF3399"/>
                    </a:solidFill>
                  </a:rPr>
                  <a:t>= </a:t>
                </a:r>
                <a:r>
                  <a:rPr lang="en-AU" sz="600" dirty="0">
                    <a:solidFill>
                      <a:srgbClr val="FF3399"/>
                    </a:solidFill>
                  </a:rPr>
                  <a:t>NINGATTFFSSALPVA</a:t>
                </a:r>
                <a:br>
                  <a:rPr lang="en-AU" sz="700" dirty="0"/>
                </a:br>
                <a:r>
                  <a:rPr lang="en-AU" sz="700" b="1" dirty="0">
                    <a:solidFill>
                      <a:srgbClr val="E88502"/>
                    </a:solidFill>
                  </a:rPr>
                  <a:t>↓</a:t>
                </a:r>
              </a:p>
              <a:p>
                <a:pPr>
                  <a:lnSpc>
                    <a:spcPts val="600"/>
                  </a:lnSpc>
                </a:pPr>
                <a:r>
                  <a:rPr lang="en-AU" sz="700" b="1" dirty="0">
                    <a:solidFill>
                      <a:srgbClr val="3F007E"/>
                    </a:solidFill>
                  </a:rPr>
                  <a:t>Evaluation</a:t>
                </a:r>
              </a:p>
              <a:p>
                <a:pPr>
                  <a:lnSpc>
                    <a:spcPts val="600"/>
                  </a:lnSpc>
                </a:pPr>
                <a:r>
                  <a:rPr lang="en-AU" sz="600" dirty="0">
                    <a:solidFill>
                      <a:srgbClr val="FF3399"/>
                    </a:solidFill>
                  </a:rPr>
                  <a:t>☑ match</a:t>
                </a:r>
              </a:p>
            </p:txBody>
          </p:sp>
        </p:grpSp>
      </p:grpSp>
    </p:spTree>
    <p:extLst>
      <p:ext uri="{BB962C8B-B14F-4D97-AF65-F5344CB8AC3E}">
        <p14:creationId xmlns:p14="http://schemas.microsoft.com/office/powerpoint/2010/main" val="293679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82B99-82AF-E51F-6F98-A24A4B7FBE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A4481B-A570-3BE5-4955-B7756FFE1002}"/>
              </a:ext>
            </a:extLst>
          </p:cNvPr>
          <p:cNvSpPr txBox="1"/>
          <p:nvPr/>
        </p:nvSpPr>
        <p:spPr>
          <a:xfrm>
            <a:off x="0" y="0"/>
            <a:ext cx="6858000" cy="1169551"/>
          </a:xfrm>
          <a:prstGeom prst="rect">
            <a:avLst/>
          </a:prstGeom>
          <a:noFill/>
        </p:spPr>
        <p:txBody>
          <a:bodyPr wrap="square" rtlCol="0">
            <a:spAutoFit/>
          </a:bodyPr>
          <a:lstStyle/>
          <a:p>
            <a:r>
              <a:rPr lang="en-US" sz="1000" b="1" dirty="0"/>
              <a:t>Supplementary Figure S2: </a:t>
            </a:r>
            <a:r>
              <a:rPr lang="en-AU" sz="1000" dirty="0"/>
              <a:t>Peptide support distributions across HC and LC wheat gene models. (A) Scatterplot showing the relationship between protein length and the number of projected unique peptides per protein isoform, separated by HC and LC annotation confidence. (B) Boxplot comparing projected peptide support between HC and LC gene models. (C) Distribution of projected unique peptides per gene model showing broader and more abundant support for HC annotations. (D) Proportion of non-redundant validated peptide projections assigned to HC and LC gene models. (E) Proportion of HC peptide projections classified as within-exon or exon-spanning. (F) Proportion of LC peptide projections classified as within-exon or exon-spanning.</a:t>
            </a:r>
          </a:p>
        </p:txBody>
      </p:sp>
      <p:grpSp>
        <p:nvGrpSpPr>
          <p:cNvPr id="25" name="Group 24">
            <a:extLst>
              <a:ext uri="{FF2B5EF4-FFF2-40B4-BE49-F238E27FC236}">
                <a16:creationId xmlns:a16="http://schemas.microsoft.com/office/drawing/2014/main" id="{84EEC60A-7752-BA49-9A8E-124790821C77}"/>
              </a:ext>
            </a:extLst>
          </p:cNvPr>
          <p:cNvGrpSpPr/>
          <p:nvPr/>
        </p:nvGrpSpPr>
        <p:grpSpPr>
          <a:xfrm>
            <a:off x="0" y="1094750"/>
            <a:ext cx="6827520" cy="8754100"/>
            <a:chOff x="0" y="1094750"/>
            <a:chExt cx="6827520" cy="8754100"/>
          </a:xfrm>
        </p:grpSpPr>
        <p:pic>
          <p:nvPicPr>
            <p:cNvPr id="5" name="Picture 4">
              <a:extLst>
                <a:ext uri="{FF2B5EF4-FFF2-40B4-BE49-F238E27FC236}">
                  <a16:creationId xmlns:a16="http://schemas.microsoft.com/office/drawing/2014/main" id="{FE3CEEDA-25CF-0921-0A84-963B2160B0BA}"/>
                </a:ext>
              </a:extLst>
            </p:cNvPr>
            <p:cNvPicPr>
              <a:picLocks noChangeAspect="1"/>
            </p:cNvPicPr>
            <p:nvPr/>
          </p:nvPicPr>
          <p:blipFill>
            <a:blip r:embed="rId2">
              <a:extLst>
                <a:ext uri="{28A0092B-C50C-407E-A947-70E740481C1C}">
                  <a14:useLocalDpi xmlns:a14="http://schemas.microsoft.com/office/drawing/2010/main" val="0"/>
                </a:ext>
              </a:extLst>
            </a:blip>
            <a:srcRect t="3681"/>
            <a:stretch>
              <a:fillRect/>
            </a:stretch>
          </p:blipFill>
          <p:spPr>
            <a:xfrm>
              <a:off x="167712" y="1191067"/>
              <a:ext cx="4446795" cy="3219771"/>
            </a:xfrm>
            <a:prstGeom prst="rect">
              <a:avLst/>
            </a:prstGeom>
          </p:spPr>
        </p:pic>
        <p:pic>
          <p:nvPicPr>
            <p:cNvPr id="13" name="Picture 12">
              <a:extLst>
                <a:ext uri="{FF2B5EF4-FFF2-40B4-BE49-F238E27FC236}">
                  <a16:creationId xmlns:a16="http://schemas.microsoft.com/office/drawing/2014/main" id="{B6A950E8-4E1B-9D88-A3D6-D50FF0140CD9}"/>
                </a:ext>
              </a:extLst>
            </p:cNvPr>
            <p:cNvPicPr>
              <a:picLocks noChangeAspect="1"/>
            </p:cNvPicPr>
            <p:nvPr/>
          </p:nvPicPr>
          <p:blipFill>
            <a:blip r:embed="rId3">
              <a:extLst>
                <a:ext uri="{28A0092B-C50C-407E-A947-70E740481C1C}">
                  <a14:useLocalDpi xmlns:a14="http://schemas.microsoft.com/office/drawing/2010/main" val="0"/>
                </a:ext>
              </a:extLst>
            </a:blip>
            <a:srcRect t="4843"/>
            <a:stretch>
              <a:fillRect/>
            </a:stretch>
          </p:blipFill>
          <p:spPr>
            <a:xfrm>
              <a:off x="4702626" y="1207773"/>
              <a:ext cx="2111992" cy="3253461"/>
            </a:xfrm>
            <a:prstGeom prst="rect">
              <a:avLst/>
            </a:prstGeom>
          </p:spPr>
        </p:pic>
        <p:pic>
          <p:nvPicPr>
            <p:cNvPr id="15" name="Picture 14">
              <a:extLst>
                <a:ext uri="{FF2B5EF4-FFF2-40B4-BE49-F238E27FC236}">
                  <a16:creationId xmlns:a16="http://schemas.microsoft.com/office/drawing/2014/main" id="{E1ECB499-8862-CC1B-2A27-989457635632}"/>
                </a:ext>
              </a:extLst>
            </p:cNvPr>
            <p:cNvPicPr>
              <a:picLocks noChangeAspect="1"/>
            </p:cNvPicPr>
            <p:nvPr/>
          </p:nvPicPr>
          <p:blipFill>
            <a:blip r:embed="rId4">
              <a:extLst>
                <a:ext uri="{28A0092B-C50C-407E-A947-70E740481C1C}">
                  <a14:useLocalDpi xmlns:a14="http://schemas.microsoft.com/office/drawing/2010/main" val="0"/>
                </a:ext>
              </a:extLst>
            </a:blip>
            <a:srcRect t="4714"/>
            <a:stretch>
              <a:fillRect/>
            </a:stretch>
          </p:blipFill>
          <p:spPr>
            <a:xfrm>
              <a:off x="0" y="4464536"/>
              <a:ext cx="6827520" cy="3418969"/>
            </a:xfrm>
            <a:prstGeom prst="rect">
              <a:avLst/>
            </a:prstGeom>
          </p:spPr>
        </p:pic>
        <p:sp>
          <p:nvSpPr>
            <p:cNvPr id="7" name="TextBox 6">
              <a:extLst>
                <a:ext uri="{FF2B5EF4-FFF2-40B4-BE49-F238E27FC236}">
                  <a16:creationId xmlns:a16="http://schemas.microsoft.com/office/drawing/2014/main" id="{FFE369D9-CB6C-162D-5A21-EFF4E7646E44}"/>
                </a:ext>
              </a:extLst>
            </p:cNvPr>
            <p:cNvSpPr txBox="1"/>
            <p:nvPr/>
          </p:nvSpPr>
          <p:spPr>
            <a:xfrm>
              <a:off x="0" y="1094750"/>
              <a:ext cx="473528" cy="461665"/>
            </a:xfrm>
            <a:prstGeom prst="rect">
              <a:avLst/>
            </a:prstGeom>
            <a:noFill/>
          </p:spPr>
          <p:txBody>
            <a:bodyPr wrap="none" rtlCol="0">
              <a:spAutoFit/>
            </a:bodyPr>
            <a:lstStyle/>
            <a:p>
              <a:r>
                <a:rPr lang="en-US" sz="2400" b="1" dirty="0"/>
                <a:t>A.</a:t>
              </a:r>
              <a:endParaRPr lang="en-AU" sz="2400" b="1" dirty="0"/>
            </a:p>
          </p:txBody>
        </p:sp>
        <p:sp>
          <p:nvSpPr>
            <p:cNvPr id="8" name="TextBox 7">
              <a:extLst>
                <a:ext uri="{FF2B5EF4-FFF2-40B4-BE49-F238E27FC236}">
                  <a16:creationId xmlns:a16="http://schemas.microsoft.com/office/drawing/2014/main" id="{1EE2E468-B2EC-39C2-AFC1-738DD2112E0A}"/>
                </a:ext>
              </a:extLst>
            </p:cNvPr>
            <p:cNvSpPr txBox="1"/>
            <p:nvPr/>
          </p:nvSpPr>
          <p:spPr>
            <a:xfrm>
              <a:off x="4606287" y="1094750"/>
              <a:ext cx="465833" cy="461665"/>
            </a:xfrm>
            <a:prstGeom prst="rect">
              <a:avLst/>
            </a:prstGeom>
            <a:noFill/>
          </p:spPr>
          <p:txBody>
            <a:bodyPr wrap="none" rtlCol="0">
              <a:spAutoFit/>
            </a:bodyPr>
            <a:lstStyle/>
            <a:p>
              <a:r>
                <a:rPr lang="en-US" sz="2400" b="1" dirty="0"/>
                <a:t>B.</a:t>
              </a:r>
              <a:endParaRPr lang="en-AU" sz="2400" b="1" dirty="0"/>
            </a:p>
          </p:txBody>
        </p:sp>
        <p:sp>
          <p:nvSpPr>
            <p:cNvPr id="9" name="TextBox 8">
              <a:extLst>
                <a:ext uri="{FF2B5EF4-FFF2-40B4-BE49-F238E27FC236}">
                  <a16:creationId xmlns:a16="http://schemas.microsoft.com/office/drawing/2014/main" id="{3031475C-D57C-3B95-801D-7B14AC0D1CEC}"/>
                </a:ext>
              </a:extLst>
            </p:cNvPr>
            <p:cNvSpPr txBox="1"/>
            <p:nvPr/>
          </p:nvSpPr>
          <p:spPr>
            <a:xfrm>
              <a:off x="0" y="4385374"/>
              <a:ext cx="492186" cy="461665"/>
            </a:xfrm>
            <a:prstGeom prst="rect">
              <a:avLst/>
            </a:prstGeom>
            <a:noFill/>
          </p:spPr>
          <p:txBody>
            <a:bodyPr wrap="none" rtlCol="0">
              <a:spAutoFit/>
            </a:bodyPr>
            <a:lstStyle/>
            <a:p>
              <a:r>
                <a:rPr lang="en-US" sz="2400" b="1" dirty="0"/>
                <a:t>C.</a:t>
              </a:r>
              <a:endParaRPr lang="en-AU" sz="2400" b="1" dirty="0"/>
            </a:p>
          </p:txBody>
        </p:sp>
        <p:pic>
          <p:nvPicPr>
            <p:cNvPr id="21" name="Picture 20">
              <a:extLst>
                <a:ext uri="{FF2B5EF4-FFF2-40B4-BE49-F238E27FC236}">
                  <a16:creationId xmlns:a16="http://schemas.microsoft.com/office/drawing/2014/main" id="{F3E7D19C-2996-4650-3294-36AEED46A7FD}"/>
                </a:ext>
              </a:extLst>
            </p:cNvPr>
            <p:cNvPicPr>
              <a:picLocks noChangeAspect="1"/>
            </p:cNvPicPr>
            <p:nvPr/>
          </p:nvPicPr>
          <p:blipFill>
            <a:blip r:embed="rId5">
              <a:extLst>
                <a:ext uri="{28A0092B-C50C-407E-A947-70E740481C1C}">
                  <a14:useLocalDpi xmlns:a14="http://schemas.microsoft.com/office/drawing/2010/main" val="0"/>
                </a:ext>
              </a:extLst>
            </a:blip>
            <a:srcRect l="7719" t="19902" r="7544" b="8973"/>
            <a:stretch>
              <a:fillRect/>
            </a:stretch>
          </p:blipFill>
          <p:spPr>
            <a:xfrm>
              <a:off x="297982" y="7928920"/>
              <a:ext cx="6262036" cy="1919930"/>
            </a:xfrm>
            <a:prstGeom prst="rect">
              <a:avLst/>
            </a:prstGeom>
          </p:spPr>
        </p:pic>
        <p:sp>
          <p:nvSpPr>
            <p:cNvPr id="22" name="TextBox 21">
              <a:extLst>
                <a:ext uri="{FF2B5EF4-FFF2-40B4-BE49-F238E27FC236}">
                  <a16:creationId xmlns:a16="http://schemas.microsoft.com/office/drawing/2014/main" id="{3AECDE2B-A8F1-E7D4-1B60-1CDD6210A7EB}"/>
                </a:ext>
              </a:extLst>
            </p:cNvPr>
            <p:cNvSpPr txBox="1"/>
            <p:nvPr/>
          </p:nvSpPr>
          <p:spPr>
            <a:xfrm>
              <a:off x="8220" y="7808597"/>
              <a:ext cx="485582" cy="461665"/>
            </a:xfrm>
            <a:prstGeom prst="rect">
              <a:avLst/>
            </a:prstGeom>
            <a:noFill/>
          </p:spPr>
          <p:txBody>
            <a:bodyPr wrap="none" rtlCol="0">
              <a:spAutoFit/>
            </a:bodyPr>
            <a:lstStyle/>
            <a:p>
              <a:r>
                <a:rPr lang="en-US" sz="2400" b="1" dirty="0"/>
                <a:t>D.</a:t>
              </a:r>
              <a:endParaRPr lang="en-AU" sz="2400" b="1" dirty="0"/>
            </a:p>
          </p:txBody>
        </p:sp>
        <p:sp>
          <p:nvSpPr>
            <p:cNvPr id="23" name="TextBox 22">
              <a:extLst>
                <a:ext uri="{FF2B5EF4-FFF2-40B4-BE49-F238E27FC236}">
                  <a16:creationId xmlns:a16="http://schemas.microsoft.com/office/drawing/2014/main" id="{D2B010B1-34DA-9AF6-75B6-0374E3049B45}"/>
                </a:ext>
              </a:extLst>
            </p:cNvPr>
            <p:cNvSpPr txBox="1"/>
            <p:nvPr/>
          </p:nvSpPr>
          <p:spPr>
            <a:xfrm>
              <a:off x="2464913" y="7808597"/>
              <a:ext cx="453970" cy="461665"/>
            </a:xfrm>
            <a:prstGeom prst="rect">
              <a:avLst/>
            </a:prstGeom>
            <a:noFill/>
          </p:spPr>
          <p:txBody>
            <a:bodyPr wrap="none" rtlCol="0">
              <a:spAutoFit/>
            </a:bodyPr>
            <a:lstStyle/>
            <a:p>
              <a:r>
                <a:rPr lang="en-US" sz="2400" b="1" dirty="0"/>
                <a:t>E.</a:t>
              </a:r>
              <a:endParaRPr lang="en-AU" sz="2400" b="1" dirty="0"/>
            </a:p>
          </p:txBody>
        </p:sp>
        <p:sp>
          <p:nvSpPr>
            <p:cNvPr id="24" name="TextBox 23">
              <a:extLst>
                <a:ext uri="{FF2B5EF4-FFF2-40B4-BE49-F238E27FC236}">
                  <a16:creationId xmlns:a16="http://schemas.microsoft.com/office/drawing/2014/main" id="{6DED9421-3393-0CA9-51AA-B131BD642223}"/>
                </a:ext>
              </a:extLst>
            </p:cNvPr>
            <p:cNvSpPr txBox="1"/>
            <p:nvPr/>
          </p:nvSpPr>
          <p:spPr>
            <a:xfrm>
              <a:off x="4738722" y="7808597"/>
              <a:ext cx="412549" cy="461665"/>
            </a:xfrm>
            <a:prstGeom prst="rect">
              <a:avLst/>
            </a:prstGeom>
            <a:noFill/>
          </p:spPr>
          <p:txBody>
            <a:bodyPr wrap="none" rtlCol="0">
              <a:spAutoFit/>
            </a:bodyPr>
            <a:lstStyle/>
            <a:p>
              <a:r>
                <a:rPr lang="en-US" sz="2400" b="1" dirty="0"/>
                <a:t>F.</a:t>
              </a:r>
              <a:endParaRPr lang="en-AU" sz="2400" b="1" dirty="0"/>
            </a:p>
          </p:txBody>
        </p:sp>
      </p:grpSp>
    </p:spTree>
    <p:extLst>
      <p:ext uri="{BB962C8B-B14F-4D97-AF65-F5344CB8AC3E}">
        <p14:creationId xmlns:p14="http://schemas.microsoft.com/office/powerpoint/2010/main" val="2879642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068B-E2E9-2BCA-9D09-C9C5E82925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DE59708-F19B-2774-5A39-0B8C196270BA}"/>
              </a:ext>
            </a:extLst>
          </p:cNvPr>
          <p:cNvSpPr txBox="1"/>
          <p:nvPr/>
        </p:nvSpPr>
        <p:spPr>
          <a:xfrm>
            <a:off x="1" y="0"/>
            <a:ext cx="6858000" cy="400110"/>
          </a:xfrm>
          <a:prstGeom prst="rect">
            <a:avLst/>
          </a:prstGeom>
          <a:noFill/>
        </p:spPr>
        <p:txBody>
          <a:bodyPr wrap="square" rtlCol="0">
            <a:spAutoFit/>
          </a:bodyPr>
          <a:lstStyle/>
          <a:p>
            <a:r>
              <a:rPr lang="en-US" sz="1000" b="1" dirty="0"/>
              <a:t>Supplementary Figure S3. </a:t>
            </a:r>
            <a:r>
              <a:rPr lang="en-US" sz="1000" dirty="0"/>
              <a:t>Proteogenomic coverage across wheat tissues. </a:t>
            </a:r>
            <a:r>
              <a:rPr lang="en-US" sz="1000" dirty="0" err="1"/>
              <a:t>Barplot</a:t>
            </a:r>
            <a:r>
              <a:rPr lang="en-US" sz="1000" dirty="0"/>
              <a:t> of protein-level coverage showing the percentage of annotated HC and LC gene models supported by projected protein accessions.</a:t>
            </a:r>
            <a:endParaRPr lang="en-AU" sz="1000" dirty="0"/>
          </a:p>
        </p:txBody>
      </p:sp>
      <p:pic>
        <p:nvPicPr>
          <p:cNvPr id="4" name="Picture 3">
            <a:extLst>
              <a:ext uri="{FF2B5EF4-FFF2-40B4-BE49-F238E27FC236}">
                <a16:creationId xmlns:a16="http://schemas.microsoft.com/office/drawing/2014/main" id="{7F44FF20-0954-928B-0003-33D9921541F2}"/>
              </a:ext>
            </a:extLst>
          </p:cNvPr>
          <p:cNvPicPr>
            <a:picLocks noChangeAspect="1"/>
          </p:cNvPicPr>
          <p:nvPr/>
        </p:nvPicPr>
        <p:blipFill>
          <a:blip r:embed="rId2">
            <a:extLst>
              <a:ext uri="{28A0092B-C50C-407E-A947-70E740481C1C}">
                <a14:useLocalDpi xmlns:a14="http://schemas.microsoft.com/office/drawing/2010/main" val="0"/>
              </a:ext>
            </a:extLst>
          </a:blip>
          <a:srcRect t="2515"/>
          <a:stretch>
            <a:fillRect/>
          </a:stretch>
        </p:blipFill>
        <p:spPr>
          <a:xfrm>
            <a:off x="93616" y="418010"/>
            <a:ext cx="6618514" cy="6023416"/>
          </a:xfrm>
          <a:prstGeom prst="rect">
            <a:avLst/>
          </a:prstGeom>
        </p:spPr>
      </p:pic>
    </p:spTree>
    <p:extLst>
      <p:ext uri="{BB962C8B-B14F-4D97-AF65-F5344CB8AC3E}">
        <p14:creationId xmlns:p14="http://schemas.microsoft.com/office/powerpoint/2010/main" val="3826548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8876-AAF0-35A6-AA7E-81CD373A72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F2B66C-6EF7-F21E-8BD9-DF65A1CC4F76}"/>
              </a:ext>
            </a:extLst>
          </p:cNvPr>
          <p:cNvSpPr txBox="1"/>
          <p:nvPr/>
        </p:nvSpPr>
        <p:spPr>
          <a:xfrm>
            <a:off x="1" y="0"/>
            <a:ext cx="6858000" cy="707886"/>
          </a:xfrm>
          <a:prstGeom prst="rect">
            <a:avLst/>
          </a:prstGeom>
          <a:noFill/>
        </p:spPr>
        <p:txBody>
          <a:bodyPr wrap="square" rtlCol="0">
            <a:spAutoFit/>
          </a:bodyPr>
          <a:lstStyle/>
          <a:p>
            <a:r>
              <a:rPr lang="en-US" sz="1000" b="1" dirty="0"/>
              <a:t>Supplementary Figure S4: </a:t>
            </a:r>
            <a:r>
              <a:rPr lang="en-US" sz="1000" dirty="0" err="1"/>
              <a:t>UpSet</a:t>
            </a:r>
            <a:r>
              <a:rPr lang="en-US" sz="1000" dirty="0"/>
              <a:t> plot of projected protein intersections across wheat tissues. Vertical bars indicate the number of shared projected protein isoforms among tissue combinations, while horizontal bars show the total number of projected protein isoforms identified per tissue. The analysis highlights both broadly shared and tissue-specific proteogenomic signatures across the wheat datasets.</a:t>
            </a:r>
            <a:endParaRPr lang="en-AU" sz="1000" dirty="0"/>
          </a:p>
        </p:txBody>
      </p:sp>
      <p:pic>
        <p:nvPicPr>
          <p:cNvPr id="5" name="Picture 4">
            <a:extLst>
              <a:ext uri="{FF2B5EF4-FFF2-40B4-BE49-F238E27FC236}">
                <a16:creationId xmlns:a16="http://schemas.microsoft.com/office/drawing/2014/main" id="{41CF4C1D-6C84-039C-C1A0-F188CC18F721}"/>
              </a:ext>
            </a:extLst>
          </p:cNvPr>
          <p:cNvPicPr>
            <a:picLocks noChangeAspect="1"/>
          </p:cNvPicPr>
          <p:nvPr/>
        </p:nvPicPr>
        <p:blipFill>
          <a:blip r:embed="rId2">
            <a:extLst>
              <a:ext uri="{28A0092B-C50C-407E-A947-70E740481C1C}">
                <a14:useLocalDpi xmlns:a14="http://schemas.microsoft.com/office/drawing/2010/main" val="0"/>
              </a:ext>
            </a:extLst>
          </a:blip>
          <a:srcRect t="10747"/>
          <a:stretch>
            <a:fillRect/>
          </a:stretch>
        </p:blipFill>
        <p:spPr>
          <a:xfrm>
            <a:off x="-1" y="714099"/>
            <a:ext cx="6858000" cy="5258960"/>
          </a:xfrm>
          <a:prstGeom prst="rect">
            <a:avLst/>
          </a:prstGeom>
        </p:spPr>
      </p:pic>
    </p:spTree>
    <p:extLst>
      <p:ext uri="{BB962C8B-B14F-4D97-AF65-F5344CB8AC3E}">
        <p14:creationId xmlns:p14="http://schemas.microsoft.com/office/powerpoint/2010/main" val="17005933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2617</TotalTime>
  <Words>1250</Words>
  <Application>Microsoft Office PowerPoint</Application>
  <PresentationFormat>A4 Paper (210x297 mm)</PresentationFormat>
  <Paragraphs>143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Delphine Vincent</dc:creator>
  <cp:lastModifiedBy>Delphine Vincent</cp:lastModifiedBy>
  <cp:revision>105</cp:revision>
  <dcterms:created xsi:type="dcterms:W3CDTF">2026-05-15T01:59:16Z</dcterms:created>
  <dcterms:modified xsi:type="dcterms:W3CDTF">2026-06-03T07:35:06Z</dcterms:modified>
</cp:coreProperties>
</file>